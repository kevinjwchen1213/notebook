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113" y="6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5286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39566" y="3342084"/>
            <a:ext cx="2118122" cy="354211"/>
          </a:xfrm>
          <a:prstGeom prst="roundRect">
            <a:avLst>
              <a:gd name="adj" fmla="val 206521"/>
            </a:avLst>
          </a:prstGeom>
          <a:solidFill>
            <a:srgbClr val="F0883E">
              <a:alpha val="12000"/>
            </a:srgbClr>
          </a:solidFill>
          <a:ln w="9525">
            <a:solidFill>
              <a:srgbClr val="F0883E"/>
            </a:solidFill>
          </a:ln>
        </p:spPr>
        <p:txBody>
          <a:bodyPr wrap="square" lIns="182880" tIns="182880" rIns="182880" bIns="18288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088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方案一：PVE + AWS Outposts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10088" y="3342084"/>
            <a:ext cx="2538412" cy="354211"/>
          </a:xfrm>
          <a:prstGeom prst="roundRect">
            <a:avLst>
              <a:gd name="adj" fmla="val 206521"/>
            </a:avLst>
          </a:prstGeom>
          <a:solidFill>
            <a:srgbClr val="3FB950">
              <a:alpha val="12000"/>
            </a:srgbClr>
          </a:solidFill>
          <a:ln w="9525">
            <a:solidFill>
              <a:srgbClr val="3FB950"/>
            </a:solidFill>
          </a:ln>
        </p:spPr>
        <p:txBody>
          <a:bodyPr wrap="square" lIns="182880" tIns="182880" rIns="182880" bIns="18288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3FB9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方案二：PBS + S3 最省方案 ✅ 建議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97180" y="1047155"/>
            <a:ext cx="854964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300"/>
              </a:lnSpc>
              <a:buNone/>
            </a:pPr>
            <a:r>
              <a:rPr lang="en-US" sz="42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☁️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97180" y="1999655"/>
            <a:ext cx="8549640" cy="69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72"/>
              </a:lnSpc>
              <a:buNone/>
            </a:pPr>
            <a:r>
              <a:rPr lang="en-US" sz="4560" b="1" dirty="0">
                <a:solidFill>
                  <a:srgbClr val="F0883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雲地混合架構方案</a:t>
            </a:r>
            <a:endParaRPr lang="en-US" sz="4560" dirty="0"/>
          </a:p>
        </p:txBody>
      </p:sp>
      <p:sp>
        <p:nvSpPr>
          <p:cNvPr id="6" name="Text 4"/>
          <p:cNvSpPr/>
          <p:nvPr/>
        </p:nvSpPr>
        <p:spPr>
          <a:xfrm>
            <a:off x="297180" y="2816423"/>
            <a:ext cx="8549640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32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3-Node PVE/Ceph + PBS ｜ AWS 混合雲部署參考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297180" y="3924895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 按方向鍵或點擊箭頭切換架構圖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53325" y="-174427"/>
            <a:ext cx="1209675" cy="224879"/>
          </a:xfrm>
          <a:prstGeom prst="roundRect">
            <a:avLst>
              <a:gd name="adj" fmla="val 243971"/>
            </a:avLst>
          </a:prstGeom>
          <a:solidFill>
            <a:srgbClr val="F85149">
              <a:alpha val="15000"/>
            </a:srgbClr>
          </a:solidFill>
          <a:ln w="9525">
            <a:solidFill>
              <a:srgbClr val="F85149"/>
            </a:solidFill>
          </a:ln>
        </p:spPr>
        <p:txBody>
          <a:bodyPr wrap="square" lIns="95250" tIns="95250" rIns="95250" bIns="95250" rtlCol="0" anchor="ctr">
            <a:no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851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5年 TCO NT$4,852萬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81000" y="187523"/>
            <a:ext cx="8382000" cy="1371600"/>
          </a:xfrm>
          <a:prstGeom prst="roundRect">
            <a:avLst>
              <a:gd name="adj" fmla="val 80000"/>
            </a:avLst>
          </a:prstGeom>
          <a:solidFill>
            <a:srgbClr val="F0883E">
              <a:alpha val="8000"/>
            </a:srgbClr>
          </a:solidFill>
          <a:ln w="9525">
            <a:solidFill>
              <a:srgbClr val="F0883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61975" y="555278"/>
            <a:ext cx="1558230" cy="860971"/>
          </a:xfrm>
          <a:prstGeom prst="roundRect">
            <a:avLst>
              <a:gd name="adj" fmla="val 84965"/>
            </a:avLst>
          </a:prstGeom>
          <a:solidFill>
            <a:srgbClr val="F0883E">
              <a:alpha val="10000"/>
            </a:srgbClr>
          </a:solidFill>
          <a:ln w="9525">
            <a:solidFill>
              <a:srgbClr val="F0883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177355" y="555278"/>
            <a:ext cx="1558230" cy="860971"/>
          </a:xfrm>
          <a:prstGeom prst="roundRect">
            <a:avLst>
              <a:gd name="adj" fmla="val 84965"/>
            </a:avLst>
          </a:prstGeom>
          <a:solidFill>
            <a:srgbClr val="F0883E">
              <a:alpha val="10000"/>
            </a:srgbClr>
          </a:solidFill>
          <a:ln w="9525">
            <a:solidFill>
              <a:srgbClr val="F0883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792736" y="555278"/>
            <a:ext cx="1558379" cy="860971"/>
          </a:xfrm>
          <a:prstGeom prst="roundRect">
            <a:avLst>
              <a:gd name="adj" fmla="val 84965"/>
            </a:avLst>
          </a:prstGeom>
          <a:solidFill>
            <a:srgbClr val="F0883E">
              <a:alpha val="10000"/>
            </a:srgbClr>
          </a:solidFill>
          <a:ln w="9525">
            <a:solidFill>
              <a:srgbClr val="F0883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08265" y="555278"/>
            <a:ext cx="1558230" cy="860971"/>
          </a:xfrm>
          <a:prstGeom prst="roundRect">
            <a:avLst>
              <a:gd name="adj" fmla="val 84965"/>
            </a:avLst>
          </a:prstGeom>
          <a:solidFill>
            <a:srgbClr val="F0883E">
              <a:alpha val="10000"/>
            </a:srgbClr>
          </a:solidFill>
          <a:ln w="9525">
            <a:solidFill>
              <a:srgbClr val="F0883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023646" y="555278"/>
            <a:ext cx="1558379" cy="860971"/>
          </a:xfrm>
          <a:prstGeom prst="roundRect">
            <a:avLst>
              <a:gd name="adj" fmla="val 84965"/>
            </a:avLst>
          </a:prstGeom>
          <a:solidFill>
            <a:srgbClr val="F0883E">
              <a:alpha val="10000"/>
            </a:srgbClr>
          </a:solidFill>
          <a:ln w="9525">
            <a:solidFill>
              <a:srgbClr val="F0883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737122"/>
            <a:ext cx="3267075" cy="95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00475" y="1644848"/>
            <a:ext cx="1543050" cy="194221"/>
          </a:xfrm>
          <a:prstGeom prst="roundRect">
            <a:avLst>
              <a:gd name="adj" fmla="val 188322"/>
            </a:avLst>
          </a:prstGeom>
          <a:solidFill>
            <a:srgbClr val="A371F7">
              <a:alpha val="10000"/>
            </a:srgbClr>
          </a:solidFill>
          <a:ln w="9525">
            <a:solidFill>
              <a:srgbClr val="A371F7"/>
            </a:solidFill>
          </a:ln>
        </p:spPr>
        <p:txBody>
          <a:bodyPr wrap="none" lIns="76200" tIns="76200" rIns="76200" bIns="7620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E76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Link (加密 TLS | &lt;10ms)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925" y="1737122"/>
            <a:ext cx="3267075" cy="95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1000" y="1867644"/>
            <a:ext cx="8382000" cy="1371600"/>
          </a:xfrm>
          <a:prstGeom prst="roundRect">
            <a:avLst>
              <a:gd name="adj" fmla="val 80000"/>
            </a:avLst>
          </a:prstGeom>
          <a:solidFill>
            <a:srgbClr val="3FB950">
              <a:alpha val="8000"/>
            </a:srgbClr>
          </a:solidFill>
          <a:ln w="9525">
            <a:solidFill>
              <a:srgbClr val="3FB95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61975" y="2235398"/>
            <a:ext cx="1962150" cy="860971"/>
          </a:xfrm>
          <a:prstGeom prst="roundRect">
            <a:avLst>
              <a:gd name="adj" fmla="val 84965"/>
            </a:avLst>
          </a:prstGeom>
          <a:solidFill>
            <a:srgbClr val="3FB950">
              <a:alpha val="10000"/>
            </a:srgbClr>
          </a:solidFill>
          <a:ln w="9525">
            <a:solidFill>
              <a:srgbClr val="3FB95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2581275" y="2235398"/>
            <a:ext cx="1962150" cy="860971"/>
          </a:xfrm>
          <a:prstGeom prst="roundRect">
            <a:avLst>
              <a:gd name="adj" fmla="val 84965"/>
            </a:avLst>
          </a:prstGeom>
          <a:solidFill>
            <a:srgbClr val="3FB950">
              <a:alpha val="10000"/>
            </a:srgbClr>
          </a:solidFill>
          <a:ln w="9525">
            <a:solidFill>
              <a:srgbClr val="3FB95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600575" y="2235398"/>
            <a:ext cx="1962150" cy="860971"/>
          </a:xfrm>
          <a:prstGeom prst="roundRect">
            <a:avLst>
              <a:gd name="adj" fmla="val 84965"/>
            </a:avLst>
          </a:prstGeom>
          <a:solidFill>
            <a:srgbClr val="3FB950">
              <a:alpha val="10000"/>
            </a:srgbClr>
          </a:solidFill>
          <a:ln w="9525">
            <a:solidFill>
              <a:srgbClr val="3FB95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619875" y="2235398"/>
            <a:ext cx="1962150" cy="860971"/>
          </a:xfrm>
          <a:prstGeom prst="roundRect">
            <a:avLst>
              <a:gd name="adj" fmla="val 84965"/>
            </a:avLst>
          </a:prstGeom>
          <a:solidFill>
            <a:srgbClr val="F85149">
              <a:alpha val="8000"/>
            </a:srgbClr>
          </a:solidFill>
          <a:ln w="9525">
            <a:solidFill>
              <a:srgbClr val="F85149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417243"/>
            <a:ext cx="2271713" cy="95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805113" y="3324969"/>
            <a:ext cx="1381125" cy="194221"/>
          </a:xfrm>
          <a:prstGeom prst="roundRect">
            <a:avLst>
              <a:gd name="adj" fmla="val 188322"/>
            </a:avLst>
          </a:prstGeom>
          <a:solidFill>
            <a:srgbClr val="58A6FF">
              <a:alpha val="10000"/>
            </a:srgbClr>
          </a:solidFill>
          <a:ln w="9525">
            <a:solidFill>
              <a:srgbClr val="58A6FF"/>
            </a:solidFill>
          </a:ln>
        </p:spPr>
        <p:txBody>
          <a:bodyPr wrap="none" lIns="76200" tIns="76200" rIns="76200" bIns="7620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E76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IPSec VPN / Direct Connect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4262438" y="3324969"/>
            <a:ext cx="1009650" cy="194221"/>
          </a:xfrm>
          <a:prstGeom prst="roundRect">
            <a:avLst>
              <a:gd name="adj" fmla="val 188322"/>
            </a:avLst>
          </a:prstGeom>
          <a:solidFill>
            <a:srgbClr val="3FB950">
              <a:alpha val="10000"/>
            </a:srgbClr>
          </a:solidFill>
          <a:ln w="9525">
            <a:solidFill>
              <a:srgbClr val="3FB950"/>
            </a:solidFill>
          </a:ln>
        </p:spPr>
        <p:txBody>
          <a:bodyPr wrap="none" lIns="76200" tIns="76200" rIns="76200" bIns="7620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E76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Migration (DR)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5348288" y="3324969"/>
            <a:ext cx="990600" cy="194221"/>
          </a:xfrm>
          <a:prstGeom prst="roundRect">
            <a:avLst>
              <a:gd name="adj" fmla="val 188322"/>
            </a:avLst>
          </a:prstGeom>
          <a:solidFill>
            <a:srgbClr val="A371F7">
              <a:alpha val="10000"/>
            </a:srgbClr>
          </a:solidFill>
          <a:ln w="9525">
            <a:solidFill>
              <a:srgbClr val="A371F7"/>
            </a:solidFill>
          </a:ln>
        </p:spPr>
        <p:txBody>
          <a:bodyPr wrap="none" lIns="76200" tIns="76200" rIns="76200" bIns="7620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E76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PBS Sync Job 每日</a:t>
            </a:r>
            <a:endParaRPr lang="en-US" sz="9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1288" y="3417243"/>
            <a:ext cx="2271713" cy="95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81000" y="3547765"/>
            <a:ext cx="8382000" cy="1811982"/>
          </a:xfrm>
          <a:prstGeom prst="roundRect">
            <a:avLst>
              <a:gd name="adj" fmla="val 60557"/>
            </a:avLst>
          </a:prstGeom>
          <a:solidFill>
            <a:srgbClr val="58A6FF">
              <a:alpha val="8000"/>
            </a:srgbClr>
          </a:solidFill>
          <a:ln w="9525">
            <a:solidFill>
              <a:srgbClr val="58A6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561975" y="4100215"/>
            <a:ext cx="1446609" cy="860971"/>
          </a:xfrm>
          <a:prstGeom prst="roundRect">
            <a:avLst>
              <a:gd name="adj" fmla="val 84965"/>
            </a:avLst>
          </a:prstGeom>
          <a:solidFill>
            <a:srgbClr val="58A6FF">
              <a:alpha val="10000"/>
            </a:srgbClr>
          </a:solidFill>
          <a:ln w="9525">
            <a:solidFill>
              <a:srgbClr val="58A6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2065734" y="4100215"/>
            <a:ext cx="1446609" cy="860971"/>
          </a:xfrm>
          <a:prstGeom prst="roundRect">
            <a:avLst>
              <a:gd name="adj" fmla="val 84965"/>
            </a:avLst>
          </a:prstGeom>
          <a:solidFill>
            <a:srgbClr val="58A6FF">
              <a:alpha val="10000"/>
            </a:srgbClr>
          </a:solidFill>
          <a:ln w="9525">
            <a:solidFill>
              <a:srgbClr val="58A6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3569494" y="4100215"/>
            <a:ext cx="1446609" cy="860971"/>
          </a:xfrm>
          <a:prstGeom prst="roundRect">
            <a:avLst>
              <a:gd name="adj" fmla="val 84965"/>
            </a:avLst>
          </a:prstGeom>
          <a:solidFill>
            <a:srgbClr val="58A6FF">
              <a:alpha val="10000"/>
            </a:srgbClr>
          </a:solidFill>
          <a:ln w="9525">
            <a:solidFill>
              <a:srgbClr val="58A6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5073253" y="4100215"/>
            <a:ext cx="1446609" cy="860971"/>
          </a:xfrm>
          <a:prstGeom prst="roundRect">
            <a:avLst>
              <a:gd name="adj" fmla="val 8496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58A6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6596063" y="4100215"/>
            <a:ext cx="1985963" cy="1110853"/>
          </a:xfrm>
          <a:prstGeom prst="roundRect">
            <a:avLst>
              <a:gd name="adj" fmla="val 65852"/>
            </a:avLst>
          </a:prstGeom>
          <a:solidFill>
            <a:srgbClr val="A371F7">
              <a:alpha val="10000"/>
            </a:srgbClr>
          </a:solidFill>
          <a:ln w="9525">
            <a:solidFill>
              <a:srgbClr val="A371F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381000" y="-216247"/>
            <a:ext cx="6684264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162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🏗️ </a:t>
            </a:r>
            <a:r>
              <a:rPr lang="en-US" sz="1620" b="1" dirty="0">
                <a:solidFill>
                  <a:srgbClr val="E6EDF3"/>
                </a:solidFill>
                <a:latin typeface="Gill Sans MT" panose="020B0502020104020203" pitchFamily="34" charset="0"/>
                <a:ea typeface="Inter" pitchFamily="34" charset="-122"/>
                <a:cs typeface="Inter" pitchFamily="34" charset="-120"/>
              </a:rPr>
              <a:t>方案一：3-Node PVE/Ceph + PBS + AWS Outposts </a:t>
            </a:r>
            <a:r>
              <a:rPr lang="en-US" sz="1620" b="1" dirty="0" err="1">
                <a:solidFill>
                  <a:srgbClr val="E6EDF3"/>
                </a:solidFill>
                <a:latin typeface="Gill Sans MT" panose="020B0502020104020203" pitchFamily="34" charset="0"/>
                <a:ea typeface="Inter" pitchFamily="34" charset="-122"/>
                <a:cs typeface="Inter" pitchFamily="34" charset="-120"/>
              </a:rPr>
              <a:t>雲地混合架構</a:t>
            </a:r>
            <a:endParaRPr lang="en-US" sz="1620" dirty="0">
              <a:latin typeface="Gill Sans MT" panose="020B0502020104020203" pitchFamily="34" charset="0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561975" y="330398"/>
            <a:ext cx="8180451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70"/>
              </a:lnSpc>
              <a:buNone/>
            </a:pPr>
            <a:r>
              <a:rPr lang="en-US" sz="700" b="1" dirty="0">
                <a:solidFill>
                  <a:srgbClr val="F088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☁️ </a:t>
            </a:r>
            <a:r>
              <a:rPr lang="en-US" sz="900" b="1" dirty="0">
                <a:solidFill>
                  <a:srgbClr val="F088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第一層：</a:t>
            </a:r>
            <a:r>
              <a:rPr lang="en-US" sz="900" b="1" dirty="0">
                <a:solidFill>
                  <a:srgbClr val="F0883E"/>
                </a:solidFill>
                <a:latin typeface="Gill Sans MT" panose="020B0502020104020203" pitchFamily="34" charset="0"/>
                <a:ea typeface="Inter" pitchFamily="34" charset="-122"/>
                <a:cs typeface="Inter" pitchFamily="34" charset="-120"/>
              </a:rPr>
              <a:t>AWS 公有雲 (ap-northeast-3 台北)</a:t>
            </a:r>
            <a:endParaRPr lang="en-US" sz="900" dirty="0">
              <a:latin typeface="Gill Sans MT" panose="020B0502020104020203" pitchFamily="34" charset="0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653263" y="641003"/>
            <a:ext cx="1375654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44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🧊</a:t>
            </a:r>
            <a:endParaRPr lang="en-US" sz="1440" dirty="0"/>
          </a:p>
        </p:txBody>
      </p:sp>
      <p:sp>
        <p:nvSpPr>
          <p:cNvPr id="31" name="Text 25"/>
          <p:cNvSpPr/>
          <p:nvPr/>
        </p:nvSpPr>
        <p:spPr>
          <a:xfrm>
            <a:off x="653263" y="925562"/>
            <a:ext cx="1375654" cy="1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S3 Glacier</a:t>
            </a:r>
            <a:endParaRPr lang="en-US" sz="840" dirty="0"/>
          </a:p>
        </p:txBody>
      </p:sp>
      <p:sp>
        <p:nvSpPr>
          <p:cNvPr id="32" name="Text 26"/>
          <p:cNvSpPr/>
          <p:nvPr/>
        </p:nvSpPr>
        <p:spPr>
          <a:xfrm>
            <a:off x="666750" y="1074837"/>
            <a:ext cx="1348680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長期歸檔備份</a:t>
            </a:r>
            <a:endParaRPr lang="en-US" sz="720" dirty="0"/>
          </a:p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Gill Sans MT" panose="020B0502020104020203" pitchFamily="34" charset="0"/>
                <a:ea typeface="Inter" pitchFamily="34" charset="-122"/>
                <a:cs typeface="Inter" pitchFamily="34" charset="-120"/>
              </a:rPr>
              <a:t>$0.004/GB/月</a:t>
            </a:r>
            <a:endParaRPr lang="en-US" sz="720" dirty="0">
              <a:latin typeface="Gill Sans MT" panose="020B0502020104020203" pitchFamily="34" charset="0"/>
            </a:endParaRPr>
          </a:p>
        </p:txBody>
      </p:sp>
      <p:sp>
        <p:nvSpPr>
          <p:cNvPr id="33" name="Text 27"/>
          <p:cNvSpPr/>
          <p:nvPr/>
        </p:nvSpPr>
        <p:spPr>
          <a:xfrm>
            <a:off x="2268644" y="641003"/>
            <a:ext cx="1375654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44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endParaRPr lang="en-US" sz="1440" dirty="0"/>
          </a:p>
        </p:txBody>
      </p:sp>
      <p:sp>
        <p:nvSpPr>
          <p:cNvPr id="34" name="Text 28"/>
          <p:cNvSpPr/>
          <p:nvPr/>
        </p:nvSpPr>
        <p:spPr>
          <a:xfrm>
            <a:off x="2268644" y="925562"/>
            <a:ext cx="1375654" cy="1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CloudWatch</a:t>
            </a:r>
            <a:endParaRPr lang="en-US" sz="840" dirty="0"/>
          </a:p>
        </p:txBody>
      </p:sp>
      <p:sp>
        <p:nvSpPr>
          <p:cNvPr id="35" name="Text 29"/>
          <p:cNvSpPr/>
          <p:nvPr/>
        </p:nvSpPr>
        <p:spPr>
          <a:xfrm>
            <a:off x="2282130" y="1074837"/>
            <a:ext cx="1348680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監控/告警</a:t>
            </a:r>
            <a:endParaRPr lang="en-US" sz="720" dirty="0"/>
          </a:p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SNS 通知</a:t>
            </a:r>
            <a:endParaRPr lang="en-US" sz="720" dirty="0"/>
          </a:p>
        </p:txBody>
      </p:sp>
      <p:sp>
        <p:nvSpPr>
          <p:cNvPr id="36" name="Text 30"/>
          <p:cNvSpPr/>
          <p:nvPr/>
        </p:nvSpPr>
        <p:spPr>
          <a:xfrm>
            <a:off x="3884023" y="641003"/>
            <a:ext cx="1375806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44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🔐</a:t>
            </a:r>
            <a:endParaRPr lang="en-US" sz="1440" dirty="0"/>
          </a:p>
        </p:txBody>
      </p:sp>
      <p:sp>
        <p:nvSpPr>
          <p:cNvPr id="37" name="Text 31"/>
          <p:cNvSpPr/>
          <p:nvPr/>
        </p:nvSpPr>
        <p:spPr>
          <a:xfrm>
            <a:off x="3884023" y="925562"/>
            <a:ext cx="1375806" cy="1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IAM / Console</a:t>
            </a:r>
            <a:endParaRPr lang="en-US" sz="840" dirty="0"/>
          </a:p>
        </p:txBody>
      </p:sp>
      <p:sp>
        <p:nvSpPr>
          <p:cNvPr id="38" name="Text 32"/>
          <p:cNvSpPr/>
          <p:nvPr/>
        </p:nvSpPr>
        <p:spPr>
          <a:xfrm>
            <a:off x="3897511" y="1074837"/>
            <a:ext cx="1348829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統一權限管理</a:t>
            </a:r>
            <a:endParaRPr lang="en-US" sz="720" dirty="0"/>
          </a:p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Policy-based</a:t>
            </a:r>
            <a:endParaRPr lang="en-US" sz="720" dirty="0"/>
          </a:p>
        </p:txBody>
      </p:sp>
      <p:sp>
        <p:nvSpPr>
          <p:cNvPr id="39" name="Text 33"/>
          <p:cNvSpPr/>
          <p:nvPr/>
        </p:nvSpPr>
        <p:spPr>
          <a:xfrm>
            <a:off x="5499553" y="641003"/>
            <a:ext cx="1375654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44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🌐</a:t>
            </a:r>
            <a:endParaRPr lang="en-US" sz="1440" dirty="0"/>
          </a:p>
        </p:txBody>
      </p:sp>
      <p:sp>
        <p:nvSpPr>
          <p:cNvPr id="40" name="Text 34"/>
          <p:cNvSpPr/>
          <p:nvPr/>
        </p:nvSpPr>
        <p:spPr>
          <a:xfrm>
            <a:off x="5499553" y="925562"/>
            <a:ext cx="1375654" cy="1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VPC</a:t>
            </a:r>
            <a:endParaRPr lang="en-US" sz="840" dirty="0"/>
          </a:p>
        </p:txBody>
      </p:sp>
      <p:sp>
        <p:nvSpPr>
          <p:cNvPr id="41" name="Text 35"/>
          <p:cNvSpPr/>
          <p:nvPr/>
        </p:nvSpPr>
        <p:spPr>
          <a:xfrm>
            <a:off x="5513040" y="1074837"/>
            <a:ext cx="1348680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Site-to-Site VPN</a:t>
            </a:r>
            <a:endParaRPr lang="en-US" sz="720" dirty="0"/>
          </a:p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或 Direct Connect</a:t>
            </a:r>
            <a:endParaRPr lang="en-US" sz="720" dirty="0"/>
          </a:p>
        </p:txBody>
      </p:sp>
      <p:sp>
        <p:nvSpPr>
          <p:cNvPr id="42" name="Text 36"/>
          <p:cNvSpPr/>
          <p:nvPr/>
        </p:nvSpPr>
        <p:spPr>
          <a:xfrm>
            <a:off x="7114932" y="641003"/>
            <a:ext cx="1375806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44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💰</a:t>
            </a:r>
            <a:endParaRPr lang="en-US" sz="1440" dirty="0"/>
          </a:p>
        </p:txBody>
      </p:sp>
      <p:sp>
        <p:nvSpPr>
          <p:cNvPr id="43" name="Text 37"/>
          <p:cNvSpPr/>
          <p:nvPr/>
        </p:nvSpPr>
        <p:spPr>
          <a:xfrm>
            <a:off x="7114932" y="925562"/>
            <a:ext cx="1375806" cy="1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Support</a:t>
            </a:r>
            <a:endParaRPr lang="en-US" sz="840" dirty="0"/>
          </a:p>
        </p:txBody>
      </p:sp>
      <p:sp>
        <p:nvSpPr>
          <p:cNvPr id="44" name="Text 38"/>
          <p:cNvSpPr/>
          <p:nvPr/>
        </p:nvSpPr>
        <p:spPr>
          <a:xfrm>
            <a:off x="7128421" y="1074837"/>
            <a:ext cx="1348829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強制必要</a:t>
            </a:r>
            <a:endParaRPr lang="en-US" sz="720" dirty="0"/>
          </a:p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$5,500/月起</a:t>
            </a:r>
            <a:endParaRPr lang="en-US" sz="720" dirty="0"/>
          </a:p>
        </p:txBody>
      </p:sp>
      <p:sp>
        <p:nvSpPr>
          <p:cNvPr id="45" name="Text 39"/>
          <p:cNvSpPr/>
          <p:nvPr/>
        </p:nvSpPr>
        <p:spPr>
          <a:xfrm>
            <a:off x="561975" y="2010519"/>
            <a:ext cx="8180451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3FB9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第二層：混合層 — AWS Outposts Rack (本地 AWS，機房內)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649224" y="2321123"/>
            <a:ext cx="1787652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44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🖥️</a:t>
            </a:r>
            <a:endParaRPr lang="en-US" sz="1440" dirty="0"/>
          </a:p>
        </p:txBody>
      </p:sp>
      <p:sp>
        <p:nvSpPr>
          <p:cNvPr id="47" name="Text 41"/>
          <p:cNvSpPr/>
          <p:nvPr/>
        </p:nvSpPr>
        <p:spPr>
          <a:xfrm>
            <a:off x="649224" y="2605683"/>
            <a:ext cx="1787652" cy="1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EC2 Instances</a:t>
            </a:r>
            <a:endParaRPr lang="en-US" sz="840" dirty="0"/>
          </a:p>
        </p:txBody>
      </p:sp>
      <p:sp>
        <p:nvSpPr>
          <p:cNvPr id="48" name="Text 42"/>
          <p:cNvSpPr/>
          <p:nvPr/>
        </p:nvSpPr>
        <p:spPr>
          <a:xfrm>
            <a:off x="666750" y="2754957"/>
            <a:ext cx="1752600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爆破/備援 VMs</a:t>
            </a:r>
            <a:endParaRPr lang="en-US" sz="720" dirty="0"/>
          </a:p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m6i 系列</a:t>
            </a:r>
            <a:endParaRPr lang="en-US" sz="720" dirty="0"/>
          </a:p>
        </p:txBody>
      </p:sp>
      <p:sp>
        <p:nvSpPr>
          <p:cNvPr id="49" name="Text 43"/>
          <p:cNvSpPr/>
          <p:nvPr/>
        </p:nvSpPr>
        <p:spPr>
          <a:xfrm>
            <a:off x="2668524" y="2321123"/>
            <a:ext cx="1787652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44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💾</a:t>
            </a:r>
            <a:endParaRPr lang="en-US" sz="1440" dirty="0"/>
          </a:p>
        </p:txBody>
      </p:sp>
      <p:sp>
        <p:nvSpPr>
          <p:cNvPr id="50" name="Text 44"/>
          <p:cNvSpPr/>
          <p:nvPr/>
        </p:nvSpPr>
        <p:spPr>
          <a:xfrm>
            <a:off x="2668524" y="2605683"/>
            <a:ext cx="1787652" cy="1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EBS on Outposts</a:t>
            </a:r>
            <a:endParaRPr lang="en-US" sz="840" dirty="0"/>
          </a:p>
        </p:txBody>
      </p:sp>
      <p:sp>
        <p:nvSpPr>
          <p:cNvPr id="51" name="Text 45"/>
          <p:cNvSpPr/>
          <p:nvPr/>
        </p:nvSpPr>
        <p:spPr>
          <a:xfrm>
            <a:off x="2686050" y="2754957"/>
            <a:ext cx="1752600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本地儲存</a:t>
            </a:r>
            <a:endParaRPr lang="en-US" sz="720" dirty="0"/>
          </a:p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gp2 $0.10/GB</a:t>
            </a:r>
            <a:endParaRPr lang="en-US" sz="720" dirty="0"/>
          </a:p>
        </p:txBody>
      </p:sp>
      <p:sp>
        <p:nvSpPr>
          <p:cNvPr id="52" name="Text 46"/>
          <p:cNvSpPr/>
          <p:nvPr/>
        </p:nvSpPr>
        <p:spPr>
          <a:xfrm>
            <a:off x="4687824" y="2321123"/>
            <a:ext cx="1787652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44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📦</a:t>
            </a:r>
            <a:endParaRPr lang="en-US" sz="1440" dirty="0"/>
          </a:p>
        </p:txBody>
      </p:sp>
      <p:sp>
        <p:nvSpPr>
          <p:cNvPr id="53" name="Text 47"/>
          <p:cNvSpPr/>
          <p:nvPr/>
        </p:nvSpPr>
        <p:spPr>
          <a:xfrm>
            <a:off x="4687824" y="2605683"/>
            <a:ext cx="1787652" cy="1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S3 on Outposts</a:t>
            </a:r>
            <a:endParaRPr lang="en-US" sz="840" dirty="0"/>
          </a:p>
        </p:txBody>
      </p:sp>
      <p:sp>
        <p:nvSpPr>
          <p:cNvPr id="54" name="Text 48"/>
          <p:cNvSpPr/>
          <p:nvPr/>
        </p:nvSpPr>
        <p:spPr>
          <a:xfrm>
            <a:off x="4705350" y="2754957"/>
            <a:ext cx="1752600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PBS 備份目的地</a:t>
            </a:r>
            <a:endParaRPr lang="en-US" sz="720" dirty="0"/>
          </a:p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$0.023/GB/月</a:t>
            </a:r>
            <a:endParaRPr lang="en-US" sz="720" dirty="0"/>
          </a:p>
        </p:txBody>
      </p:sp>
      <p:sp>
        <p:nvSpPr>
          <p:cNvPr id="55" name="Text 49"/>
          <p:cNvSpPr/>
          <p:nvPr/>
        </p:nvSpPr>
        <p:spPr>
          <a:xfrm>
            <a:off x="6707124" y="2321123"/>
            <a:ext cx="1787652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44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💸</a:t>
            </a:r>
            <a:endParaRPr lang="en-US" sz="1440" dirty="0"/>
          </a:p>
        </p:txBody>
      </p:sp>
      <p:sp>
        <p:nvSpPr>
          <p:cNvPr id="56" name="Text 50"/>
          <p:cNvSpPr/>
          <p:nvPr/>
        </p:nvSpPr>
        <p:spPr>
          <a:xfrm>
            <a:off x="6707124" y="2605683"/>
            <a:ext cx="1787652" cy="1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Rack 月費</a:t>
            </a:r>
            <a:endParaRPr lang="en-US" sz="840" dirty="0"/>
          </a:p>
        </p:txBody>
      </p:sp>
      <p:sp>
        <p:nvSpPr>
          <p:cNvPr id="57" name="Text 51"/>
          <p:cNvSpPr/>
          <p:nvPr/>
        </p:nvSpPr>
        <p:spPr>
          <a:xfrm>
            <a:off x="6724650" y="2754957"/>
            <a:ext cx="1752600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F851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~$7,148/月</a:t>
            </a:r>
            <a:endParaRPr lang="en-US" sz="720" dirty="0"/>
          </a:p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F851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含 EC2 容量</a:t>
            </a:r>
            <a:endParaRPr lang="en-US" sz="720" dirty="0"/>
          </a:p>
        </p:txBody>
      </p:sp>
      <p:sp>
        <p:nvSpPr>
          <p:cNvPr id="58" name="Text 52"/>
          <p:cNvSpPr/>
          <p:nvPr/>
        </p:nvSpPr>
        <p:spPr>
          <a:xfrm>
            <a:off x="561975" y="3690640"/>
            <a:ext cx="8180451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🏢 第三層：地端機房 On-Premises</a:t>
            </a:r>
            <a:endParaRPr lang="en-US" sz="900" dirty="0"/>
          </a:p>
        </p:txBody>
      </p:sp>
      <p:sp>
        <p:nvSpPr>
          <p:cNvPr id="59" name="Text 53"/>
          <p:cNvSpPr/>
          <p:nvPr/>
        </p:nvSpPr>
        <p:spPr>
          <a:xfrm>
            <a:off x="561975" y="3915519"/>
            <a:ext cx="6077045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PVE Cluster (HA)</a:t>
            </a:r>
            <a:endParaRPr lang="en-US" sz="1000" dirty="0"/>
          </a:p>
        </p:txBody>
      </p:sp>
      <p:sp>
        <p:nvSpPr>
          <p:cNvPr id="60" name="Text 54"/>
          <p:cNvSpPr/>
          <p:nvPr/>
        </p:nvSpPr>
        <p:spPr>
          <a:xfrm>
            <a:off x="654379" y="4185940"/>
            <a:ext cx="1261801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44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🖥️</a:t>
            </a:r>
            <a:endParaRPr lang="en-US" sz="1440" dirty="0"/>
          </a:p>
        </p:txBody>
      </p:sp>
      <p:sp>
        <p:nvSpPr>
          <p:cNvPr id="61" name="Text 55"/>
          <p:cNvSpPr/>
          <p:nvPr/>
        </p:nvSpPr>
        <p:spPr>
          <a:xfrm>
            <a:off x="654379" y="4470499"/>
            <a:ext cx="1261801" cy="1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PVE Node 1</a:t>
            </a:r>
            <a:endParaRPr lang="en-US" sz="840" dirty="0"/>
          </a:p>
        </p:txBody>
      </p:sp>
      <p:sp>
        <p:nvSpPr>
          <p:cNvPr id="62" name="Text 56"/>
          <p:cNvSpPr/>
          <p:nvPr/>
        </p:nvSpPr>
        <p:spPr>
          <a:xfrm>
            <a:off x="666750" y="4619774"/>
            <a:ext cx="1237059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Ceph OSD</a:t>
            </a:r>
            <a:endParaRPr lang="en-US" sz="720" dirty="0"/>
          </a:p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NVMe SSD</a:t>
            </a:r>
            <a:endParaRPr lang="en-US" sz="720" dirty="0"/>
          </a:p>
        </p:txBody>
      </p:sp>
      <p:sp>
        <p:nvSpPr>
          <p:cNvPr id="63" name="Text 57"/>
          <p:cNvSpPr/>
          <p:nvPr/>
        </p:nvSpPr>
        <p:spPr>
          <a:xfrm>
            <a:off x="2158139" y="4185940"/>
            <a:ext cx="1261801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44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🖥️</a:t>
            </a:r>
            <a:endParaRPr lang="en-US" sz="1440" dirty="0"/>
          </a:p>
        </p:txBody>
      </p:sp>
      <p:sp>
        <p:nvSpPr>
          <p:cNvPr id="64" name="Text 58"/>
          <p:cNvSpPr/>
          <p:nvPr/>
        </p:nvSpPr>
        <p:spPr>
          <a:xfrm>
            <a:off x="2158139" y="4470499"/>
            <a:ext cx="1261801" cy="1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PVE Node 2</a:t>
            </a:r>
            <a:endParaRPr lang="en-US" sz="840" dirty="0"/>
          </a:p>
        </p:txBody>
      </p:sp>
      <p:sp>
        <p:nvSpPr>
          <p:cNvPr id="65" name="Text 59"/>
          <p:cNvSpPr/>
          <p:nvPr/>
        </p:nvSpPr>
        <p:spPr>
          <a:xfrm>
            <a:off x="2170509" y="4619774"/>
            <a:ext cx="1237059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Ceph OSD</a:t>
            </a:r>
            <a:endParaRPr lang="en-US" sz="720" dirty="0"/>
          </a:p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NVMe SSD</a:t>
            </a:r>
            <a:endParaRPr lang="en-US" sz="720" dirty="0"/>
          </a:p>
        </p:txBody>
      </p:sp>
      <p:sp>
        <p:nvSpPr>
          <p:cNvPr id="66" name="Text 60"/>
          <p:cNvSpPr/>
          <p:nvPr/>
        </p:nvSpPr>
        <p:spPr>
          <a:xfrm>
            <a:off x="3661898" y="4185940"/>
            <a:ext cx="1261801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44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🖥️</a:t>
            </a:r>
            <a:endParaRPr lang="en-US" sz="1440" dirty="0"/>
          </a:p>
        </p:txBody>
      </p:sp>
      <p:sp>
        <p:nvSpPr>
          <p:cNvPr id="67" name="Text 61"/>
          <p:cNvSpPr/>
          <p:nvPr/>
        </p:nvSpPr>
        <p:spPr>
          <a:xfrm>
            <a:off x="3661898" y="4470499"/>
            <a:ext cx="1261801" cy="1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PVE Node 3</a:t>
            </a:r>
            <a:endParaRPr lang="en-US" sz="840" dirty="0"/>
          </a:p>
        </p:txBody>
      </p:sp>
      <p:sp>
        <p:nvSpPr>
          <p:cNvPr id="68" name="Text 62"/>
          <p:cNvSpPr/>
          <p:nvPr/>
        </p:nvSpPr>
        <p:spPr>
          <a:xfrm>
            <a:off x="3674269" y="4619774"/>
            <a:ext cx="1237059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Ceph OSD</a:t>
            </a:r>
            <a:endParaRPr lang="en-US" sz="720" dirty="0"/>
          </a:p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NVMe SSD</a:t>
            </a:r>
            <a:endParaRPr lang="en-US" sz="720" dirty="0"/>
          </a:p>
        </p:txBody>
      </p:sp>
      <p:sp>
        <p:nvSpPr>
          <p:cNvPr id="69" name="Text 63"/>
          <p:cNvSpPr/>
          <p:nvPr/>
        </p:nvSpPr>
        <p:spPr>
          <a:xfrm>
            <a:off x="5165658" y="4185940"/>
            <a:ext cx="1261801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44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💾</a:t>
            </a:r>
            <a:endParaRPr lang="en-US" sz="1440" dirty="0"/>
          </a:p>
        </p:txBody>
      </p:sp>
      <p:sp>
        <p:nvSpPr>
          <p:cNvPr id="70" name="Text 64"/>
          <p:cNvSpPr/>
          <p:nvPr/>
        </p:nvSpPr>
        <p:spPr>
          <a:xfrm>
            <a:off x="5165658" y="4470499"/>
            <a:ext cx="1261801" cy="1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Ceph 儲存</a:t>
            </a:r>
            <a:endParaRPr lang="en-US" sz="840" dirty="0"/>
          </a:p>
        </p:txBody>
      </p:sp>
      <p:sp>
        <p:nvSpPr>
          <p:cNvPr id="71" name="Text 65"/>
          <p:cNvSpPr/>
          <p:nvPr/>
        </p:nvSpPr>
        <p:spPr>
          <a:xfrm>
            <a:off x="5178028" y="4619774"/>
            <a:ext cx="1237059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3TB (3x副本)</a:t>
            </a:r>
            <a:endParaRPr lang="en-US" sz="720" dirty="0"/>
          </a:p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分散式 HA</a:t>
            </a:r>
            <a:endParaRPr lang="en-US" sz="720" dirty="0"/>
          </a:p>
        </p:txBody>
      </p:sp>
      <p:sp>
        <p:nvSpPr>
          <p:cNvPr id="72" name="Text 66"/>
          <p:cNvSpPr/>
          <p:nvPr/>
        </p:nvSpPr>
        <p:spPr>
          <a:xfrm>
            <a:off x="6596063" y="3915519"/>
            <a:ext cx="2025682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備份服務</a:t>
            </a:r>
            <a:endParaRPr lang="en-US" sz="1100" dirty="0"/>
          </a:p>
        </p:txBody>
      </p:sp>
      <p:sp>
        <p:nvSpPr>
          <p:cNvPr id="73" name="Text 67"/>
          <p:cNvSpPr/>
          <p:nvPr/>
        </p:nvSpPr>
        <p:spPr>
          <a:xfrm>
            <a:off x="6683073" y="4185940"/>
            <a:ext cx="1811941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44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🗄️</a:t>
            </a:r>
            <a:endParaRPr lang="en-US" sz="1440" dirty="0"/>
          </a:p>
        </p:txBody>
      </p:sp>
      <p:sp>
        <p:nvSpPr>
          <p:cNvPr id="74" name="Text 68"/>
          <p:cNvSpPr/>
          <p:nvPr/>
        </p:nvSpPr>
        <p:spPr>
          <a:xfrm>
            <a:off x="6683073" y="4470499"/>
            <a:ext cx="1811941" cy="1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PBS</a:t>
            </a:r>
            <a:endParaRPr lang="en-US" sz="840" dirty="0"/>
          </a:p>
        </p:txBody>
      </p:sp>
      <p:sp>
        <p:nvSpPr>
          <p:cNvPr id="75" name="Text 69"/>
          <p:cNvSpPr/>
          <p:nvPr/>
        </p:nvSpPr>
        <p:spPr>
          <a:xfrm>
            <a:off x="6700838" y="4619774"/>
            <a:ext cx="1776413" cy="511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Proxmox Backup Server</a:t>
            </a:r>
            <a:endParaRPr lang="en-US" sz="720" dirty="0"/>
          </a:p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VMs 每日增量</a:t>
            </a:r>
            <a:endParaRPr lang="en-US" sz="720" dirty="0"/>
          </a:p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112 vCPU / 128GB</a:t>
            </a:r>
            <a:endParaRPr lang="en-US" sz="720" dirty="0"/>
          </a:p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ZFS 去重壓縮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510183"/>
            <a:ext cx="1587996" cy="224879"/>
          </a:xfrm>
          <a:prstGeom prst="roundRect">
            <a:avLst>
              <a:gd name="adj" fmla="val 243971"/>
            </a:avLst>
          </a:prstGeom>
          <a:solidFill>
            <a:srgbClr val="3FB950">
              <a:alpha val="15000"/>
            </a:srgbClr>
          </a:solidFill>
          <a:ln w="9525">
            <a:solidFill>
              <a:srgbClr val="3FB950"/>
            </a:solidFill>
          </a:ln>
        </p:spPr>
        <p:txBody>
          <a:bodyPr wrap="square" lIns="95250" tIns="95250" rIns="95250" bIns="95250" rtlCol="0" anchor="ctr">
            <a:no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FB9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5年 TCO NT$766萬 ⬇️ 省 84%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81000" y="830312"/>
            <a:ext cx="8382000" cy="1371600"/>
          </a:xfrm>
          <a:prstGeom prst="roundRect">
            <a:avLst>
              <a:gd name="adj" fmla="val 80000"/>
            </a:avLst>
          </a:prstGeom>
          <a:solidFill>
            <a:srgbClr val="F0883E">
              <a:alpha val="8000"/>
            </a:srgbClr>
          </a:solidFill>
          <a:ln w="9525">
            <a:solidFill>
              <a:srgbClr val="F0883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61975" y="1198066"/>
            <a:ext cx="1558230" cy="860971"/>
          </a:xfrm>
          <a:prstGeom prst="roundRect">
            <a:avLst>
              <a:gd name="adj" fmla="val 84965"/>
            </a:avLst>
          </a:prstGeom>
          <a:solidFill>
            <a:srgbClr val="F0883E">
              <a:alpha val="10000"/>
            </a:srgbClr>
          </a:solidFill>
          <a:ln w="9525">
            <a:solidFill>
              <a:srgbClr val="F0883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177355" y="1198066"/>
            <a:ext cx="1558230" cy="860971"/>
          </a:xfrm>
          <a:prstGeom prst="roundRect">
            <a:avLst>
              <a:gd name="adj" fmla="val 84965"/>
            </a:avLst>
          </a:prstGeom>
          <a:solidFill>
            <a:srgbClr val="F0883E">
              <a:alpha val="10000"/>
            </a:srgbClr>
          </a:solidFill>
          <a:ln w="9525">
            <a:solidFill>
              <a:srgbClr val="F0883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792736" y="1198066"/>
            <a:ext cx="1558379" cy="860971"/>
          </a:xfrm>
          <a:prstGeom prst="roundRect">
            <a:avLst>
              <a:gd name="adj" fmla="val 84965"/>
            </a:avLst>
          </a:prstGeom>
          <a:solidFill>
            <a:srgbClr val="F0883E">
              <a:alpha val="10000"/>
            </a:srgbClr>
          </a:solidFill>
          <a:ln w="9525">
            <a:solidFill>
              <a:srgbClr val="F0883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08265" y="1198066"/>
            <a:ext cx="1558230" cy="860971"/>
          </a:xfrm>
          <a:prstGeom prst="roundRect">
            <a:avLst>
              <a:gd name="adj" fmla="val 84965"/>
            </a:avLst>
          </a:prstGeom>
          <a:solidFill>
            <a:srgbClr val="F0883E">
              <a:alpha val="10000"/>
            </a:srgbClr>
          </a:solidFill>
          <a:ln w="9525">
            <a:solidFill>
              <a:srgbClr val="F0883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023646" y="1198066"/>
            <a:ext cx="1558379" cy="860971"/>
          </a:xfrm>
          <a:prstGeom prst="roundRect">
            <a:avLst>
              <a:gd name="adj" fmla="val 84965"/>
            </a:avLst>
          </a:prstGeom>
          <a:solidFill>
            <a:srgbClr val="3FB950">
              <a:alpha val="10000"/>
            </a:srgbClr>
          </a:solidFill>
          <a:ln w="9525">
            <a:solidFill>
              <a:srgbClr val="3FB95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77150" y="1131391"/>
            <a:ext cx="971550" cy="136327"/>
          </a:xfrm>
          <a:prstGeom prst="roundRect">
            <a:avLst>
              <a:gd name="adj" fmla="val 268296"/>
            </a:avLst>
          </a:prstGeom>
          <a:solidFill>
            <a:srgbClr val="3FB950"/>
          </a:solidFill>
          <a:ln/>
        </p:spPr>
        <p:txBody>
          <a:bodyPr wrap="square" lIns="47625" tIns="47625" rIns="47625" bIns="47625" rtlCol="0" anchor="ctr">
            <a:no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1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免 Enterprise Support</a:t>
            </a:r>
            <a:endParaRPr lang="en-US" sz="7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389436"/>
            <a:ext cx="1971526" cy="952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504926" y="2297162"/>
            <a:ext cx="2590800" cy="194221"/>
          </a:xfrm>
          <a:prstGeom prst="roundRect">
            <a:avLst>
              <a:gd name="adj" fmla="val 188322"/>
            </a:avLst>
          </a:prstGeom>
          <a:solidFill>
            <a:srgbClr val="3FB950">
              <a:alpha val="12000"/>
            </a:srgbClr>
          </a:solidFill>
          <a:ln w="9525">
            <a:solidFill>
              <a:srgbClr val="3FB950"/>
            </a:solidFill>
          </a:ln>
        </p:spPr>
        <p:txBody>
          <a:bodyPr wrap="none" lIns="95250" tIns="95250" rIns="95250" bIns="9525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FB9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🔒 HTTPS / TLS Port 443（無需 VPN、無需 Outposts）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171926" y="2297162"/>
            <a:ext cx="1467296" cy="194221"/>
          </a:xfrm>
          <a:prstGeom prst="roundRect">
            <a:avLst>
              <a:gd name="adj" fmla="val 188322"/>
            </a:avLst>
          </a:prstGeom>
          <a:solidFill>
            <a:srgbClr val="58A6FF">
              <a:alpha val="10000"/>
            </a:srgbClr>
          </a:solidFill>
          <a:ln w="9525">
            <a:solidFill>
              <a:srgbClr val="58A6FF"/>
            </a:solidFill>
          </a:ln>
        </p:spPr>
        <p:txBody>
          <a:bodyPr wrap="none" lIns="95250" tIns="95250" rIns="95250" bIns="9525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PBS Sync Job 每日增量 → S3</a:t>
            </a:r>
            <a:endParaRPr lang="en-US" sz="9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623" y="2389436"/>
            <a:ext cx="1971526" cy="95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1000" y="2529483"/>
            <a:ext cx="8382000" cy="491579"/>
          </a:xfrm>
          <a:prstGeom prst="roundRect">
            <a:avLst>
              <a:gd name="adj" fmla="val 186013"/>
            </a:avLst>
          </a:prstGeom>
          <a:solidFill>
            <a:srgbClr val="3FB950">
              <a:alpha val="6000"/>
            </a:srgbClr>
          </a:solidFill>
          <a:ln w="9525">
            <a:solidFill>
              <a:srgbClr val="3FB95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800725" y="2668637"/>
            <a:ext cx="1266825" cy="213271"/>
          </a:xfrm>
          <a:prstGeom prst="roundRect">
            <a:avLst>
              <a:gd name="adj" fmla="val 214375"/>
            </a:avLst>
          </a:prstGeom>
          <a:solidFill>
            <a:srgbClr val="F85149">
              <a:alpha val="12000"/>
            </a:srgbClr>
          </a:solidFill>
          <a:ln w="9525">
            <a:solidFill>
              <a:srgbClr val="F85149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851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Outposts Rack ~$7,148/月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124700" y="2668637"/>
            <a:ext cx="1476375" cy="213271"/>
          </a:xfrm>
          <a:prstGeom prst="roundRect">
            <a:avLst>
              <a:gd name="adj" fmla="val 214375"/>
            </a:avLst>
          </a:prstGeom>
          <a:solidFill>
            <a:srgbClr val="F85149">
              <a:alpha val="12000"/>
            </a:srgbClr>
          </a:solidFill>
          <a:ln w="9525">
            <a:solidFill>
              <a:srgbClr val="F85149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851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Support $5,500/月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81000" y="3078212"/>
            <a:ext cx="8382000" cy="1939826"/>
          </a:xfrm>
          <a:prstGeom prst="roundRect">
            <a:avLst>
              <a:gd name="adj" fmla="val 56566"/>
            </a:avLst>
          </a:prstGeom>
          <a:solidFill>
            <a:srgbClr val="58A6FF">
              <a:alpha val="8000"/>
            </a:srgbClr>
          </a:solidFill>
          <a:ln w="9525">
            <a:solidFill>
              <a:srgbClr val="58A6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61975" y="3630662"/>
            <a:ext cx="1446609" cy="860971"/>
          </a:xfrm>
          <a:prstGeom prst="roundRect">
            <a:avLst>
              <a:gd name="adj" fmla="val 84965"/>
            </a:avLst>
          </a:prstGeom>
          <a:solidFill>
            <a:srgbClr val="58A6FF">
              <a:alpha val="10000"/>
            </a:srgbClr>
          </a:solidFill>
          <a:ln w="9525">
            <a:solidFill>
              <a:srgbClr val="58A6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2065734" y="3630662"/>
            <a:ext cx="1446609" cy="860971"/>
          </a:xfrm>
          <a:prstGeom prst="roundRect">
            <a:avLst>
              <a:gd name="adj" fmla="val 84965"/>
            </a:avLst>
          </a:prstGeom>
          <a:solidFill>
            <a:srgbClr val="58A6FF">
              <a:alpha val="10000"/>
            </a:srgbClr>
          </a:solidFill>
          <a:ln w="9525">
            <a:solidFill>
              <a:srgbClr val="58A6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3569494" y="3630662"/>
            <a:ext cx="1446609" cy="860971"/>
          </a:xfrm>
          <a:prstGeom prst="roundRect">
            <a:avLst>
              <a:gd name="adj" fmla="val 84965"/>
            </a:avLst>
          </a:prstGeom>
          <a:solidFill>
            <a:srgbClr val="58A6FF">
              <a:alpha val="10000"/>
            </a:srgbClr>
          </a:solidFill>
          <a:ln w="9525">
            <a:solidFill>
              <a:srgbClr val="58A6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5073253" y="3630662"/>
            <a:ext cx="1446609" cy="860971"/>
          </a:xfrm>
          <a:prstGeom prst="roundRect">
            <a:avLst>
              <a:gd name="adj" fmla="val 8496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58A6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6596063" y="3630662"/>
            <a:ext cx="1985963" cy="1238696"/>
          </a:xfrm>
          <a:prstGeom prst="roundRect">
            <a:avLst>
              <a:gd name="adj" fmla="val 59056"/>
            </a:avLst>
          </a:prstGeom>
          <a:solidFill>
            <a:srgbClr val="3FB950">
              <a:alpha val="12000"/>
            </a:srgbClr>
          </a:solidFill>
          <a:ln w="9525">
            <a:solidFill>
              <a:srgbClr val="3FB95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381000" y="125462"/>
            <a:ext cx="7432357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r>
              <a:rPr lang="en-US" sz="162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</a:t>
            </a:r>
            <a:r>
              <a:rPr lang="en-US" sz="1620" b="1" dirty="0">
                <a:solidFill>
                  <a:srgbClr val="E6EDF3"/>
                </a:solidFill>
                <a:latin typeface="Gill Sans MT" panose="020B0502020104020203" pitchFamily="34" charset="0"/>
                <a:ea typeface="Inter" pitchFamily="34" charset="-122"/>
                <a:cs typeface="Inter" pitchFamily="34" charset="-120"/>
              </a:rPr>
              <a:t>方案二：3-Node PVE/Ceph + PBS + AWS S3 最省方案（無需 Outposts）</a:t>
            </a:r>
            <a:endParaRPr lang="en-US" sz="1620" dirty="0">
              <a:latin typeface="Gill Sans MT" panose="020B0502020104020203" pitchFamily="34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561975" y="973187"/>
            <a:ext cx="8180451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70"/>
              </a:lnSpc>
              <a:buNone/>
            </a:pPr>
            <a:r>
              <a:rPr lang="en-US" sz="780" b="1" dirty="0">
                <a:solidFill>
                  <a:srgbClr val="F088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☁️ 第一層：AWS 公有雲 (ap-northeast-3 台北) — 僅備份/監控用途</a:t>
            </a:r>
            <a:endParaRPr lang="en-US" sz="780" dirty="0"/>
          </a:p>
        </p:txBody>
      </p:sp>
      <p:sp>
        <p:nvSpPr>
          <p:cNvPr id="25" name="Text 21"/>
          <p:cNvSpPr/>
          <p:nvPr/>
        </p:nvSpPr>
        <p:spPr>
          <a:xfrm>
            <a:off x="653263" y="1283791"/>
            <a:ext cx="1375654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44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📦</a:t>
            </a:r>
            <a:endParaRPr lang="en-US" sz="1440" dirty="0"/>
          </a:p>
        </p:txBody>
      </p:sp>
      <p:sp>
        <p:nvSpPr>
          <p:cNvPr id="26" name="Text 22"/>
          <p:cNvSpPr/>
          <p:nvPr/>
        </p:nvSpPr>
        <p:spPr>
          <a:xfrm>
            <a:off x="653263" y="1568351"/>
            <a:ext cx="1375654" cy="1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S3 Standard</a:t>
            </a:r>
            <a:endParaRPr lang="en-US" sz="840" dirty="0"/>
          </a:p>
        </p:txBody>
      </p:sp>
      <p:sp>
        <p:nvSpPr>
          <p:cNvPr id="27" name="Text 23"/>
          <p:cNvSpPr/>
          <p:nvPr/>
        </p:nvSpPr>
        <p:spPr>
          <a:xfrm>
            <a:off x="666750" y="1717625"/>
            <a:ext cx="1348680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近期備份 &lt;90天</a:t>
            </a:r>
            <a:endParaRPr lang="en-US" sz="720" dirty="0"/>
          </a:p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$0.023/GB/月</a:t>
            </a:r>
            <a:endParaRPr lang="en-US" sz="720" dirty="0"/>
          </a:p>
        </p:txBody>
      </p:sp>
      <p:sp>
        <p:nvSpPr>
          <p:cNvPr id="28" name="Text 24"/>
          <p:cNvSpPr/>
          <p:nvPr/>
        </p:nvSpPr>
        <p:spPr>
          <a:xfrm>
            <a:off x="2268644" y="1283791"/>
            <a:ext cx="1375654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44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🧊</a:t>
            </a:r>
            <a:endParaRPr lang="en-US" sz="1440" dirty="0"/>
          </a:p>
        </p:txBody>
      </p:sp>
      <p:sp>
        <p:nvSpPr>
          <p:cNvPr id="29" name="Text 25"/>
          <p:cNvSpPr/>
          <p:nvPr/>
        </p:nvSpPr>
        <p:spPr>
          <a:xfrm>
            <a:off x="2268644" y="1568351"/>
            <a:ext cx="1375654" cy="1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S3 Glacier</a:t>
            </a:r>
            <a:endParaRPr lang="en-US" sz="840" dirty="0"/>
          </a:p>
        </p:txBody>
      </p:sp>
      <p:sp>
        <p:nvSpPr>
          <p:cNvPr id="30" name="Text 26"/>
          <p:cNvSpPr/>
          <p:nvPr/>
        </p:nvSpPr>
        <p:spPr>
          <a:xfrm>
            <a:off x="2282130" y="1717625"/>
            <a:ext cx="1348680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長期歸檔 &gt;90天</a:t>
            </a:r>
            <a:endParaRPr lang="en-US" sz="720" dirty="0"/>
          </a:p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$0.004/GB/月</a:t>
            </a:r>
            <a:endParaRPr lang="en-US" sz="720" dirty="0"/>
          </a:p>
        </p:txBody>
      </p:sp>
      <p:sp>
        <p:nvSpPr>
          <p:cNvPr id="31" name="Text 27"/>
          <p:cNvSpPr/>
          <p:nvPr/>
        </p:nvSpPr>
        <p:spPr>
          <a:xfrm>
            <a:off x="3884023" y="1283791"/>
            <a:ext cx="1375806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44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🔄</a:t>
            </a:r>
            <a:endParaRPr lang="en-US" sz="1440" dirty="0"/>
          </a:p>
        </p:txBody>
      </p:sp>
      <p:sp>
        <p:nvSpPr>
          <p:cNvPr id="32" name="Text 28"/>
          <p:cNvSpPr/>
          <p:nvPr/>
        </p:nvSpPr>
        <p:spPr>
          <a:xfrm>
            <a:off x="3884023" y="1568351"/>
            <a:ext cx="1375806" cy="1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Lifecycle Rule</a:t>
            </a:r>
            <a:endParaRPr lang="en-US" sz="840" dirty="0"/>
          </a:p>
        </p:txBody>
      </p:sp>
      <p:sp>
        <p:nvSpPr>
          <p:cNvPr id="33" name="Text 29"/>
          <p:cNvSpPr/>
          <p:nvPr/>
        </p:nvSpPr>
        <p:spPr>
          <a:xfrm>
            <a:off x="3897511" y="1717625"/>
            <a:ext cx="1348829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自動轉存</a:t>
            </a:r>
            <a:endParaRPr lang="en-US" sz="720" dirty="0"/>
          </a:p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90天觸發</a:t>
            </a:r>
            <a:endParaRPr lang="en-US" sz="720" dirty="0"/>
          </a:p>
        </p:txBody>
      </p:sp>
      <p:sp>
        <p:nvSpPr>
          <p:cNvPr id="34" name="Text 30"/>
          <p:cNvSpPr/>
          <p:nvPr/>
        </p:nvSpPr>
        <p:spPr>
          <a:xfrm>
            <a:off x="5499553" y="1283791"/>
            <a:ext cx="1375654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44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endParaRPr lang="en-US" sz="1440" dirty="0"/>
          </a:p>
        </p:txBody>
      </p:sp>
      <p:sp>
        <p:nvSpPr>
          <p:cNvPr id="35" name="Text 31"/>
          <p:cNvSpPr/>
          <p:nvPr/>
        </p:nvSpPr>
        <p:spPr>
          <a:xfrm>
            <a:off x="5499553" y="1568351"/>
            <a:ext cx="1375654" cy="1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CloudWatch</a:t>
            </a:r>
            <a:endParaRPr lang="en-US" sz="840" dirty="0"/>
          </a:p>
        </p:txBody>
      </p:sp>
      <p:sp>
        <p:nvSpPr>
          <p:cNvPr id="36" name="Text 32"/>
          <p:cNvSpPr/>
          <p:nvPr/>
        </p:nvSpPr>
        <p:spPr>
          <a:xfrm>
            <a:off x="5513040" y="1717625"/>
            <a:ext cx="1348680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備份監控告警</a:t>
            </a:r>
            <a:endParaRPr lang="en-US" sz="720" dirty="0"/>
          </a:p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SNS Email</a:t>
            </a:r>
            <a:endParaRPr lang="en-US" sz="720" dirty="0"/>
          </a:p>
        </p:txBody>
      </p:sp>
      <p:sp>
        <p:nvSpPr>
          <p:cNvPr id="37" name="Text 33"/>
          <p:cNvSpPr/>
          <p:nvPr/>
        </p:nvSpPr>
        <p:spPr>
          <a:xfrm>
            <a:off x="7114932" y="1283791"/>
            <a:ext cx="1375806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44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💰</a:t>
            </a:r>
            <a:endParaRPr lang="en-US" sz="1440" dirty="0"/>
          </a:p>
        </p:txBody>
      </p:sp>
      <p:sp>
        <p:nvSpPr>
          <p:cNvPr id="38" name="Text 34"/>
          <p:cNvSpPr/>
          <p:nvPr/>
        </p:nvSpPr>
        <p:spPr>
          <a:xfrm>
            <a:off x="7114932" y="1568351"/>
            <a:ext cx="1375806" cy="1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費用</a:t>
            </a:r>
            <a:endParaRPr lang="en-US" sz="840" dirty="0"/>
          </a:p>
        </p:txBody>
      </p:sp>
      <p:sp>
        <p:nvSpPr>
          <p:cNvPr id="39" name="Text 35"/>
          <p:cNvSpPr/>
          <p:nvPr/>
        </p:nvSpPr>
        <p:spPr>
          <a:xfrm>
            <a:off x="7128421" y="1717625"/>
            <a:ext cx="1348829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3FB9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~$85/月</a:t>
            </a:r>
            <a:endParaRPr lang="en-US" sz="720" dirty="0"/>
          </a:p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3FB9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5年 NT$16萬</a:t>
            </a:r>
            <a:endParaRPr lang="en-US" sz="720" dirty="0"/>
          </a:p>
        </p:txBody>
      </p:sp>
      <p:sp>
        <p:nvSpPr>
          <p:cNvPr id="40" name="Text 36"/>
          <p:cNvSpPr/>
          <p:nvPr/>
        </p:nvSpPr>
        <p:spPr>
          <a:xfrm>
            <a:off x="542925" y="2615208"/>
            <a:ext cx="213741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68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🚫</a:t>
            </a:r>
            <a:endParaRPr lang="en-US" sz="1680" dirty="0"/>
          </a:p>
        </p:txBody>
      </p:sp>
      <p:sp>
        <p:nvSpPr>
          <p:cNvPr id="41" name="Text 37"/>
          <p:cNvSpPr/>
          <p:nvPr/>
        </p:nvSpPr>
        <p:spPr>
          <a:xfrm>
            <a:off x="866775" y="2619524"/>
            <a:ext cx="418738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816" b="1" dirty="0">
                <a:solidFill>
                  <a:srgbClr val="3FB9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無混合層 — 不需要 Outposts Rack</a:t>
            </a:r>
            <a:endParaRPr lang="en-US" sz="816" dirty="0"/>
          </a:p>
        </p:txBody>
      </p:sp>
      <p:sp>
        <p:nvSpPr>
          <p:cNvPr id="42" name="Text 38"/>
          <p:cNvSpPr/>
          <p:nvPr/>
        </p:nvSpPr>
        <p:spPr>
          <a:xfrm>
            <a:off x="866775" y="2793950"/>
            <a:ext cx="4187381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720" dirty="0">
                <a:solidFill>
                  <a:srgbClr val="6E76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省去 Outposts Rack NT$2,880萬 + Enterprise Support NT$1,056萬 = 節省 NT$3,936萬（5年）</a:t>
            </a:r>
            <a:endParaRPr lang="en-US" sz="720" dirty="0"/>
          </a:p>
        </p:txBody>
      </p:sp>
      <p:sp>
        <p:nvSpPr>
          <p:cNvPr id="43" name="Text 39"/>
          <p:cNvSpPr/>
          <p:nvPr/>
        </p:nvSpPr>
        <p:spPr>
          <a:xfrm>
            <a:off x="561975" y="3221087"/>
            <a:ext cx="8180451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70"/>
              </a:lnSpc>
              <a:buNone/>
            </a:pPr>
            <a:r>
              <a:rPr lang="en-US" sz="780" b="1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🏢 第三層：地端機房 On-Premises（與方案一相同，架構完全不變）</a:t>
            </a:r>
            <a:endParaRPr lang="en-US" sz="780" dirty="0"/>
          </a:p>
        </p:txBody>
      </p:sp>
      <p:sp>
        <p:nvSpPr>
          <p:cNvPr id="44" name="Text 40"/>
          <p:cNvSpPr/>
          <p:nvPr/>
        </p:nvSpPr>
        <p:spPr>
          <a:xfrm>
            <a:off x="561975" y="3445966"/>
            <a:ext cx="6077045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720" dirty="0">
                <a:solidFill>
                  <a:srgbClr val="6E76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PVE Cluster (HA) — 主要生產負載 100%</a:t>
            </a:r>
            <a:endParaRPr lang="en-US" sz="720" dirty="0"/>
          </a:p>
        </p:txBody>
      </p:sp>
      <p:sp>
        <p:nvSpPr>
          <p:cNvPr id="45" name="Text 41"/>
          <p:cNvSpPr/>
          <p:nvPr/>
        </p:nvSpPr>
        <p:spPr>
          <a:xfrm>
            <a:off x="654379" y="3716387"/>
            <a:ext cx="1261801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44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🖥️</a:t>
            </a:r>
            <a:endParaRPr lang="en-US" sz="1440" dirty="0"/>
          </a:p>
        </p:txBody>
      </p:sp>
      <p:sp>
        <p:nvSpPr>
          <p:cNvPr id="46" name="Text 42"/>
          <p:cNvSpPr/>
          <p:nvPr/>
        </p:nvSpPr>
        <p:spPr>
          <a:xfrm>
            <a:off x="654379" y="4000946"/>
            <a:ext cx="1261801" cy="1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PVE Node 1</a:t>
            </a:r>
            <a:endParaRPr lang="en-US" sz="840" dirty="0"/>
          </a:p>
        </p:txBody>
      </p:sp>
      <p:sp>
        <p:nvSpPr>
          <p:cNvPr id="47" name="Text 43"/>
          <p:cNvSpPr/>
          <p:nvPr/>
        </p:nvSpPr>
        <p:spPr>
          <a:xfrm>
            <a:off x="666750" y="4150221"/>
            <a:ext cx="1237059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Ceph OSD</a:t>
            </a:r>
            <a:endParaRPr lang="en-US" sz="720" dirty="0"/>
          </a:p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NVMe SSD</a:t>
            </a:r>
            <a:endParaRPr lang="en-US" sz="720" dirty="0"/>
          </a:p>
        </p:txBody>
      </p:sp>
      <p:sp>
        <p:nvSpPr>
          <p:cNvPr id="48" name="Text 44"/>
          <p:cNvSpPr/>
          <p:nvPr/>
        </p:nvSpPr>
        <p:spPr>
          <a:xfrm>
            <a:off x="2158139" y="3716387"/>
            <a:ext cx="1261801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44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🖥️</a:t>
            </a:r>
            <a:endParaRPr lang="en-US" sz="1440" dirty="0"/>
          </a:p>
        </p:txBody>
      </p:sp>
      <p:sp>
        <p:nvSpPr>
          <p:cNvPr id="49" name="Text 45"/>
          <p:cNvSpPr/>
          <p:nvPr/>
        </p:nvSpPr>
        <p:spPr>
          <a:xfrm>
            <a:off x="2158139" y="4000946"/>
            <a:ext cx="1261801" cy="1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PVE Node 2</a:t>
            </a:r>
            <a:endParaRPr lang="en-US" sz="840" dirty="0"/>
          </a:p>
        </p:txBody>
      </p:sp>
      <p:sp>
        <p:nvSpPr>
          <p:cNvPr id="50" name="Text 46"/>
          <p:cNvSpPr/>
          <p:nvPr/>
        </p:nvSpPr>
        <p:spPr>
          <a:xfrm>
            <a:off x="2170509" y="4150221"/>
            <a:ext cx="1237059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Ceph OSD</a:t>
            </a:r>
            <a:endParaRPr lang="en-US" sz="720" dirty="0"/>
          </a:p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NVMe SSD</a:t>
            </a:r>
            <a:endParaRPr lang="en-US" sz="720" dirty="0"/>
          </a:p>
        </p:txBody>
      </p:sp>
      <p:sp>
        <p:nvSpPr>
          <p:cNvPr id="51" name="Text 47"/>
          <p:cNvSpPr/>
          <p:nvPr/>
        </p:nvSpPr>
        <p:spPr>
          <a:xfrm>
            <a:off x="3661898" y="3716387"/>
            <a:ext cx="1261801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44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🖥️</a:t>
            </a:r>
            <a:endParaRPr lang="en-US" sz="1440" dirty="0"/>
          </a:p>
        </p:txBody>
      </p:sp>
      <p:sp>
        <p:nvSpPr>
          <p:cNvPr id="52" name="Text 48"/>
          <p:cNvSpPr/>
          <p:nvPr/>
        </p:nvSpPr>
        <p:spPr>
          <a:xfrm>
            <a:off x="3661898" y="4000946"/>
            <a:ext cx="1261801" cy="1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PVE Node 3</a:t>
            </a:r>
            <a:endParaRPr lang="en-US" sz="840" dirty="0"/>
          </a:p>
        </p:txBody>
      </p:sp>
      <p:sp>
        <p:nvSpPr>
          <p:cNvPr id="53" name="Text 49"/>
          <p:cNvSpPr/>
          <p:nvPr/>
        </p:nvSpPr>
        <p:spPr>
          <a:xfrm>
            <a:off x="3674269" y="4150221"/>
            <a:ext cx="1237059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Ceph OSD</a:t>
            </a:r>
            <a:endParaRPr lang="en-US" sz="720" dirty="0"/>
          </a:p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NVMe SSD</a:t>
            </a:r>
            <a:endParaRPr lang="en-US" sz="720" dirty="0"/>
          </a:p>
        </p:txBody>
      </p:sp>
      <p:sp>
        <p:nvSpPr>
          <p:cNvPr id="54" name="Text 50"/>
          <p:cNvSpPr/>
          <p:nvPr/>
        </p:nvSpPr>
        <p:spPr>
          <a:xfrm>
            <a:off x="5165658" y="3716387"/>
            <a:ext cx="1261801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44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💾</a:t>
            </a:r>
            <a:endParaRPr lang="en-US" sz="1440" dirty="0"/>
          </a:p>
        </p:txBody>
      </p:sp>
      <p:sp>
        <p:nvSpPr>
          <p:cNvPr id="55" name="Text 51"/>
          <p:cNvSpPr/>
          <p:nvPr/>
        </p:nvSpPr>
        <p:spPr>
          <a:xfrm>
            <a:off x="5165658" y="4000946"/>
            <a:ext cx="1261801" cy="1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Ceph 儲存</a:t>
            </a:r>
            <a:endParaRPr lang="en-US" sz="840" dirty="0"/>
          </a:p>
        </p:txBody>
      </p:sp>
      <p:sp>
        <p:nvSpPr>
          <p:cNvPr id="56" name="Text 52"/>
          <p:cNvSpPr/>
          <p:nvPr/>
        </p:nvSpPr>
        <p:spPr>
          <a:xfrm>
            <a:off x="5178028" y="4150221"/>
            <a:ext cx="1237059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3TB (3x副本)</a:t>
            </a:r>
            <a:endParaRPr lang="en-US" sz="720" dirty="0"/>
          </a:p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分散式 HA</a:t>
            </a:r>
            <a:endParaRPr lang="en-US" sz="720" dirty="0"/>
          </a:p>
        </p:txBody>
      </p:sp>
      <p:sp>
        <p:nvSpPr>
          <p:cNvPr id="57" name="Text 53"/>
          <p:cNvSpPr/>
          <p:nvPr/>
        </p:nvSpPr>
        <p:spPr>
          <a:xfrm>
            <a:off x="6596063" y="3445966"/>
            <a:ext cx="2025682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720" dirty="0">
                <a:solidFill>
                  <a:srgbClr val="6E76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備份服務（核心角色）</a:t>
            </a:r>
            <a:endParaRPr lang="en-US" sz="720" dirty="0"/>
          </a:p>
        </p:txBody>
      </p:sp>
      <p:sp>
        <p:nvSpPr>
          <p:cNvPr id="58" name="Text 54"/>
          <p:cNvSpPr/>
          <p:nvPr/>
        </p:nvSpPr>
        <p:spPr>
          <a:xfrm>
            <a:off x="6683073" y="3716387"/>
            <a:ext cx="1811941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44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🗄️</a:t>
            </a:r>
            <a:endParaRPr lang="en-US" sz="1440" dirty="0"/>
          </a:p>
        </p:txBody>
      </p:sp>
      <p:sp>
        <p:nvSpPr>
          <p:cNvPr id="59" name="Text 55"/>
          <p:cNvSpPr/>
          <p:nvPr/>
        </p:nvSpPr>
        <p:spPr>
          <a:xfrm>
            <a:off x="6683073" y="4000946"/>
            <a:ext cx="1811941" cy="14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3FB9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PBS</a:t>
            </a:r>
            <a:endParaRPr lang="en-US" sz="840" dirty="0"/>
          </a:p>
        </p:txBody>
      </p:sp>
      <p:sp>
        <p:nvSpPr>
          <p:cNvPr id="60" name="Text 56"/>
          <p:cNvSpPr/>
          <p:nvPr/>
        </p:nvSpPr>
        <p:spPr>
          <a:xfrm>
            <a:off x="6700838" y="4150221"/>
            <a:ext cx="1776413" cy="639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Proxmox Backup Server</a:t>
            </a:r>
            <a:endParaRPr lang="en-US" sz="720" dirty="0"/>
          </a:p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VMs 每日增量</a:t>
            </a:r>
            <a:endParaRPr lang="en-US" sz="720" dirty="0"/>
          </a:p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直接推送 AWS S3</a:t>
            </a:r>
            <a:endParaRPr lang="en-US" sz="720" dirty="0"/>
          </a:p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ZFS 去重壓縮</a:t>
            </a:r>
            <a:endParaRPr lang="en-US" sz="720" dirty="0"/>
          </a:p>
          <a:p>
            <a:pPr marL="0" indent="0" algn="ctr">
              <a:lnSpc>
                <a:spcPts val="1008"/>
              </a:lnSpc>
              <a:buNone/>
            </a:pPr>
            <a:r>
              <a:rPr lang="en-US" sz="72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RTO 約 2-4 小時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191220"/>
            <a:ext cx="4114800" cy="1843683"/>
          </a:xfrm>
          <a:prstGeom prst="roundRect">
            <a:avLst>
              <a:gd name="adj" fmla="val 59516"/>
            </a:avLst>
          </a:prstGeom>
          <a:solidFill>
            <a:srgbClr val="F0883E">
              <a:alpha val="7000"/>
            </a:srgbClr>
          </a:solidFill>
          <a:ln w="9525">
            <a:solidFill>
              <a:srgbClr val="F0883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48200" y="1191220"/>
            <a:ext cx="4114800" cy="1843683"/>
          </a:xfrm>
          <a:prstGeom prst="roundRect">
            <a:avLst>
              <a:gd name="adj" fmla="val 59516"/>
            </a:avLst>
          </a:prstGeom>
          <a:solidFill>
            <a:srgbClr val="3FB950">
              <a:alpha val="7000"/>
            </a:srgbClr>
          </a:solidFill>
          <a:ln w="19050">
            <a:solidFill>
              <a:srgbClr val="3FB95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62699" y="1115020"/>
            <a:ext cx="847726" cy="171451"/>
          </a:xfrm>
          <a:prstGeom prst="roundRect">
            <a:avLst>
              <a:gd name="adj" fmla="val 293738"/>
            </a:avLst>
          </a:prstGeom>
          <a:solidFill>
            <a:srgbClr val="3FB950"/>
          </a:solidFill>
          <a:ln/>
        </p:spPr>
        <p:txBody>
          <a:bodyPr wrap="square" lIns="95250" tIns="95250" rIns="95250" bIns="95250" rtlCol="0" anchor="ctr">
            <a:no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11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推薦方案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1000" y="3187303"/>
            <a:ext cx="2024062" cy="751284"/>
          </a:xfrm>
          <a:prstGeom prst="roundRect">
            <a:avLst>
              <a:gd name="adj" fmla="val 9736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00313" y="3187303"/>
            <a:ext cx="2024062" cy="751284"/>
          </a:xfrm>
          <a:prstGeom prst="roundRect">
            <a:avLst>
              <a:gd name="adj" fmla="val 9736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19625" y="3187303"/>
            <a:ext cx="2024062" cy="751284"/>
          </a:xfrm>
          <a:prstGeom prst="roundRect">
            <a:avLst>
              <a:gd name="adj" fmla="val 9736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38938" y="3187303"/>
            <a:ext cx="2024062" cy="751284"/>
          </a:xfrm>
          <a:prstGeom prst="roundRect">
            <a:avLst>
              <a:gd name="adj" fmla="val 9736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1000" y="4033837"/>
            <a:ext cx="8382000" cy="482203"/>
          </a:xfrm>
          <a:prstGeom prst="roundRect">
            <a:avLst>
              <a:gd name="adj" fmla="val 151704"/>
            </a:avLst>
          </a:prstGeom>
          <a:solidFill>
            <a:srgbClr val="3FB950">
              <a:alpha val="6000"/>
            </a:srgbClr>
          </a:solidFill>
          <a:ln w="9525">
            <a:solidFill>
              <a:srgbClr val="3FB95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386594"/>
              </p:ext>
            </p:extLst>
          </p:nvPr>
        </p:nvGraphicFramePr>
        <p:xfrm>
          <a:off x="542925" y="1619845"/>
          <a:ext cx="3790950" cy="1234156"/>
        </p:xfrm>
        <a:graphic>
          <a:graphicData uri="http://schemas.openxmlformats.org/drawingml/2006/table">
            <a:tbl>
              <a:tblPr/>
              <a:tblGrid>
                <a:gridCol w="1895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6" dirty="0">
                          <a:solidFill>
                            <a:srgbClr val="8B949E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地端 PVE 硬體+訂閱+電費</a:t>
                      </a:r>
                      <a:endParaRPr lang="en-US" sz="816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16" dirty="0">
                          <a:solidFill>
                            <a:srgbClr val="E6EDF3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NT$750萬</a:t>
                      </a:r>
                      <a:endParaRPr lang="en-US" sz="816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6" dirty="0">
                          <a:solidFill>
                            <a:srgbClr val="8B949E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Outposts Rack 租賃 (5yr)</a:t>
                      </a:r>
                      <a:endParaRPr lang="en-US" sz="816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16" dirty="0">
                          <a:solidFill>
                            <a:srgbClr val="F8514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NT$2,880萬</a:t>
                      </a:r>
                      <a:endParaRPr lang="en-US" sz="816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6" dirty="0">
                          <a:solidFill>
                            <a:srgbClr val="8B949E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Enterprise Support (強制)</a:t>
                      </a:r>
                      <a:endParaRPr lang="en-US" sz="816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16" dirty="0">
                          <a:solidFill>
                            <a:srgbClr val="F85149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NT$1,056萬</a:t>
                      </a:r>
                      <a:endParaRPr lang="en-US" sz="816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6" dirty="0">
                          <a:solidFill>
                            <a:srgbClr val="8B949E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EBS / S3 / 傳輸 / 服務</a:t>
                      </a:r>
                      <a:endParaRPr lang="en-US" sz="816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16" dirty="0">
                          <a:solidFill>
                            <a:srgbClr val="E6EDF3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NT$166萬</a:t>
                      </a:r>
                      <a:endParaRPr lang="en-US" sz="816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6" b="1" dirty="0">
                          <a:solidFill>
                            <a:srgbClr val="F0883E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5年 TCO 合計</a:t>
                      </a:r>
                      <a:endParaRPr lang="en-US" sz="816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b="1" dirty="0">
                          <a:solidFill>
                            <a:srgbClr val="F0883E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NT$4,852萬</a:t>
                      </a:r>
                      <a:endParaRPr lang="en-US" sz="10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869746"/>
              </p:ext>
            </p:extLst>
          </p:nvPr>
        </p:nvGraphicFramePr>
        <p:xfrm>
          <a:off x="4819650" y="1629370"/>
          <a:ext cx="3771900" cy="1234156"/>
        </p:xfrm>
        <a:graphic>
          <a:graphicData uri="http://schemas.openxmlformats.org/drawingml/2006/table">
            <a:tbl>
              <a:tblPr/>
              <a:tblGrid>
                <a:gridCol w="188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6" dirty="0">
                          <a:solidFill>
                            <a:srgbClr val="8B949E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地端 PVE 硬體+訂閱+電費</a:t>
                      </a:r>
                      <a:endParaRPr lang="en-US" sz="816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16" dirty="0">
                          <a:solidFill>
                            <a:srgbClr val="E6EDF3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NT$750萬</a:t>
                      </a:r>
                      <a:endParaRPr lang="en-US" sz="816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6" dirty="0">
                          <a:solidFill>
                            <a:srgbClr val="8B949E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AWS S3 Standard + Glacier</a:t>
                      </a:r>
                      <a:endParaRPr lang="en-US" sz="816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16" dirty="0">
                          <a:solidFill>
                            <a:srgbClr val="3FB95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NT$13.7萬</a:t>
                      </a:r>
                      <a:endParaRPr lang="en-US" sz="816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6" dirty="0">
                          <a:solidFill>
                            <a:srgbClr val="8B949E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CloudWatch + 傳輸</a:t>
                      </a:r>
                      <a:endParaRPr lang="en-US" sz="816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16" dirty="0">
                          <a:solidFill>
                            <a:srgbClr val="3FB95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NT$2.6萬</a:t>
                      </a:r>
                      <a:endParaRPr lang="en-US" sz="816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6" dirty="0">
                          <a:solidFill>
                            <a:srgbClr val="3FB95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Outposts / Enterprise Support</a:t>
                      </a:r>
                      <a:endParaRPr lang="en-US" sz="816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16" b="1" dirty="0">
                          <a:solidFill>
                            <a:srgbClr val="3FB95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NT$0 ✓</a:t>
                      </a:r>
                      <a:endParaRPr lang="en-US" sz="816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6" b="1" dirty="0">
                          <a:solidFill>
                            <a:srgbClr val="3FB95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5年 TCO 合計</a:t>
                      </a:r>
                      <a:endParaRPr lang="en-US" sz="816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b="1" dirty="0">
                          <a:solidFill>
                            <a:srgbClr val="3FB95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NT$766萬</a:t>
                      </a:r>
                      <a:endParaRPr lang="en-US" sz="102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297180" y="627459"/>
            <a:ext cx="854964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160" b="1" dirty="0">
                <a:solidFill>
                  <a:srgbClr val="E6EDF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⚖️ </a:t>
            </a:r>
            <a:r>
              <a:rPr lang="en-US" sz="2160" b="1" dirty="0">
                <a:solidFill>
                  <a:srgbClr val="E6EDF3"/>
                </a:solidFill>
                <a:latin typeface="Gill Sans MT" panose="020B0502020104020203" pitchFamily="34" charset="0"/>
                <a:ea typeface="Instrument Serif" pitchFamily="34" charset="-122"/>
                <a:cs typeface="Instrument Serif" pitchFamily="34" charset="-120"/>
              </a:rPr>
              <a:t>方案一 vs 方案二 — 5年 TCO 決策比較</a:t>
            </a:r>
            <a:endParaRPr lang="en-US" sz="2160" dirty="0">
              <a:latin typeface="Gill Sans MT" panose="020B0502020104020203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42925" y="1353145"/>
            <a:ext cx="38667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088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方案一：PVE + AWS Outposts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819650" y="1362670"/>
            <a:ext cx="38473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FB9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方案二：PVE + PBS + S3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87061" y="3311128"/>
            <a:ext cx="18119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3FB950"/>
                </a:solidFill>
                <a:latin typeface="Gill Sans MT" panose="020B0502020104020203" pitchFamily="34" charset="0"/>
                <a:ea typeface="Inter" pitchFamily="34" charset="-122"/>
                <a:cs typeface="Inter" pitchFamily="34" charset="-120"/>
              </a:rPr>
              <a:t>84%</a:t>
            </a:r>
            <a:endParaRPr lang="en-US" sz="1800" dirty="0">
              <a:latin typeface="Gill Sans MT" panose="020B0502020104020203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87061" y="3673078"/>
            <a:ext cx="1811941" cy="141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16"/>
              </a:lnSpc>
              <a:buNone/>
            </a:pPr>
            <a:r>
              <a:rPr lang="en-US" sz="744" dirty="0">
                <a:solidFill>
                  <a:srgbClr val="6E76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方案二節省比例</a:t>
            </a:r>
            <a:endParaRPr lang="en-US" sz="744" dirty="0"/>
          </a:p>
        </p:txBody>
      </p:sp>
      <p:sp>
        <p:nvSpPr>
          <p:cNvPr id="17" name="Text 13"/>
          <p:cNvSpPr/>
          <p:nvPr/>
        </p:nvSpPr>
        <p:spPr>
          <a:xfrm>
            <a:off x="2606373" y="3311128"/>
            <a:ext cx="18119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3FB9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NT$4,086萬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2606373" y="3673078"/>
            <a:ext cx="1811941" cy="141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16"/>
              </a:lnSpc>
              <a:buNone/>
            </a:pPr>
            <a:r>
              <a:rPr lang="en-US" sz="744" dirty="0">
                <a:solidFill>
                  <a:srgbClr val="6E76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5年絕對節省金額</a:t>
            </a:r>
            <a:endParaRPr lang="en-US" sz="744" dirty="0"/>
          </a:p>
        </p:txBody>
      </p:sp>
      <p:sp>
        <p:nvSpPr>
          <p:cNvPr id="19" name="Text 15"/>
          <p:cNvSpPr/>
          <p:nvPr/>
        </p:nvSpPr>
        <p:spPr>
          <a:xfrm>
            <a:off x="4725686" y="3311128"/>
            <a:ext cx="18119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58A6FF"/>
                </a:solidFill>
                <a:latin typeface="Gill Sans MT" panose="020B0502020104020203" pitchFamily="34" charset="0"/>
                <a:ea typeface="Inter" pitchFamily="34" charset="-122"/>
                <a:cs typeface="Inter" pitchFamily="34" charset="-120"/>
              </a:rPr>
              <a:t>2-4hr</a:t>
            </a:r>
            <a:endParaRPr lang="en-US" sz="1800" dirty="0">
              <a:latin typeface="Gill Sans MT" panose="020B0502020104020203" pitchFamily="34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4725686" y="3673078"/>
            <a:ext cx="1811941" cy="141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16"/>
              </a:lnSpc>
              <a:buNone/>
            </a:pPr>
            <a:r>
              <a:rPr lang="en-US" sz="744" dirty="0">
                <a:solidFill>
                  <a:srgbClr val="6E76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方案二 RTO（可接受）</a:t>
            </a:r>
            <a:endParaRPr lang="en-US" sz="744" dirty="0"/>
          </a:p>
        </p:txBody>
      </p:sp>
      <p:sp>
        <p:nvSpPr>
          <p:cNvPr id="21" name="Text 17"/>
          <p:cNvSpPr/>
          <p:nvPr/>
        </p:nvSpPr>
        <p:spPr>
          <a:xfrm>
            <a:off x="6844998" y="3311128"/>
            <a:ext cx="18119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088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&lt;1hr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6844998" y="3673078"/>
            <a:ext cx="1811941" cy="141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16"/>
              </a:lnSpc>
              <a:buNone/>
            </a:pPr>
            <a:r>
              <a:rPr lang="en-US" sz="744" dirty="0">
                <a:solidFill>
                  <a:srgbClr val="6E76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方案一 RTO（但貴 6x）</a:t>
            </a:r>
            <a:endParaRPr lang="en-US" sz="744" dirty="0"/>
          </a:p>
        </p:txBody>
      </p:sp>
      <p:sp>
        <p:nvSpPr>
          <p:cNvPr id="23" name="Text 19"/>
          <p:cNvSpPr/>
          <p:nvPr/>
        </p:nvSpPr>
        <p:spPr>
          <a:xfrm>
            <a:off x="542924" y="4033837"/>
            <a:ext cx="7996239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24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 </a:t>
            </a:r>
            <a:r>
              <a:rPr lang="en-US" sz="1100" b="1" dirty="0">
                <a:solidFill>
                  <a:srgbClr val="3FB9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建議：</a:t>
            </a:r>
            <a:r>
              <a:rPr lang="en-US" sz="110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優先採用方案二（PBS + S3）作為基礎架構。待 VMs 規模成長超過 3 節點容量，或有嚴格合規需求（金融/醫療），再重新評估 Outposts 1U/2U Server（非 Rack，月費 $548 起）作為漸進擴充。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642</Words>
  <Application>Microsoft Office PowerPoint</Application>
  <PresentationFormat>如螢幕大小 (16:9)</PresentationFormat>
  <Paragraphs>169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Instrument Serif</vt:lpstr>
      <vt:lpstr>Inter</vt:lpstr>
      <vt:lpstr>Arial</vt:lpstr>
      <vt:lpstr>Calibri</vt:lpstr>
      <vt:lpstr>Gill Sans MT</vt:lpstr>
      <vt:lpstr>Office Theme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Jwen Chen 陳進文</cp:lastModifiedBy>
  <cp:revision>4</cp:revision>
  <dcterms:created xsi:type="dcterms:W3CDTF">2026-04-18T11:54:48Z</dcterms:created>
  <dcterms:modified xsi:type="dcterms:W3CDTF">2026-04-18T12:46:12Z</dcterms:modified>
</cp:coreProperties>
</file>