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04667"/>
  <p:notesSz cx="680466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8138" y="1470623"/>
            <a:ext cx="3575418" cy="44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EEC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精煉决策版|排除高成本 Outposts 方案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683993" y="2194505"/>
            <a:ext cx="6823710" cy="823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36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企業基礎架構轉型戰略與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059501" y="3009825"/>
            <a:ext cx="4072694" cy="823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36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五年 TCO 决策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922270" y="3939442"/>
            <a:ext cx="634715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86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 VMs移轉路徑：純地端、混合雲與純雲端端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381390" y="4358531"/>
            <a:ext cx="319468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76A6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之財務與架構深度剖析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69378" y="5150991"/>
            <a:ext cx="217522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基礎架構轉型專案團隊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55464" y="5150991"/>
            <a:ext cx="183250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5F6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2026戰略佈局評估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" y="487668"/>
            <a:ext cx="6092377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執行摘要：三條轉型路徑的五年財務底線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0543" y="1249649"/>
            <a:ext cx="1030741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3F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面對 VMware 授權成本暴增(VCF 訂關制)，我們針對現有40 VMs基礎架構進行了5年 TCO 深度評估，得出以下三條最佳轉型路徑：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34489" y="1988770"/>
            <a:ext cx="2567744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架構三：純雲端AWS3 yrRI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29234" y="2011630"/>
            <a:ext cx="465311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31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財務成本最低。完全消除硬體Cap Ex與機房維運負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44474" y="2308802"/>
            <a:ext cx="4846202" cy="30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3A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擔，但需克服Legacy OS(舊版作業系統)上雲的技術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64968" y="2324042"/>
            <a:ext cx="3634653" cy="622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NT$825萬 -16%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034489" y="3558451"/>
            <a:ext cx="297803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架構二：混合雲 PVE+PBS+AWSS3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44474" y="3588930"/>
            <a:ext cx="3966151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30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最佳風險回報率。僅需增加極小成本(NT$40萬)，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6375" y="3886103"/>
            <a:ext cx="4861442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3E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即可為地端架構換取 AWSS3異地備援與零勒索軟體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2064968" y="3931822"/>
            <a:ext cx="3047927" cy="61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2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NT$1,018萬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034489" y="5135752"/>
            <a:ext cx="280900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架構一：純地端 PVE+Ceph+PBS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06375" y="5158611"/>
            <a:ext cx="411520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掌控度最高。將高昂的 VMware 授權費轉換為開源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234" y="5463403"/>
            <a:ext cx="4838582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9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PVE 方案，但需承擔 NT$400萬的初期硬體資本支出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2064968" y="5509122"/>
            <a:ext cx="4000403" cy="587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NT$978萬 Baseline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644474" y="5752956"/>
            <a:ext cx="222545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(Cap Ex)與後續維運人力。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0527" y="487668"/>
            <a:ext cx="3771899" cy="481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專案範疇與工作負載盤點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64586" y="2042109"/>
            <a:ext cx="3764189" cy="429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0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vCPU/196 GBRAM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95065" y="2537397"/>
            <a:ext cx="173736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總運算資源需求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26869" y="2590735"/>
            <a:ext cx="2645063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 (VMs)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49729" y="3931822"/>
            <a:ext cx="3002208" cy="73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5.66 TB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64586" y="4701422"/>
            <a:ext cx="3112792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0C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運行Legacy OS(舊版系統)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34489" y="4701422"/>
            <a:ext cx="3651280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00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實際儲存空間需求(含3 TB備份)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64586" y="5524362"/>
            <a:ext cx="2924488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7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 Win2000/XP/2003，RHEL4/6等已終止支摄系统。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0" y="6347301"/>
            <a:ext cx="12191695" cy="42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0D2D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評估基準：排除不具經濟效益的 AWSOutposts 架構(預估 TCO 高達 NT$5,080)，專注於最具財務合理性的三項方案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464808"/>
            <a:ext cx="6033012" cy="54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3030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三條轉型路徑架構與五年 TCO 比較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56246" y="1135352"/>
            <a:ext cx="927292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C0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架構一：純地端 PVE+Ceph+PBS 架構二：混合雲 PVE+PBS+AWSS3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8625624" y="1135352"/>
            <a:ext cx="2796474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E0E0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架構三：純雲端AWS3 yrRI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06215" y="1493483"/>
            <a:ext cx="2513610" cy="4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TCO：NT101萬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953276" y="1501102"/>
            <a:ext cx="2476236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77E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5年 TCO：NT825萬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26789" y="1584920"/>
            <a:ext cx="2609586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925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5年 TCO：NT$978萬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318627" y="1737317"/>
            <a:ext cx="1722080" cy="42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6C96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(僅比地端多4%)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204730" y="1737317"/>
            <a:ext cx="1661122" cy="429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7F8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(比純地端省16%)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76758" y="2202125"/>
            <a:ext cx="967719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882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AWS 公有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54441" y="2301182"/>
            <a:ext cx="1508735" cy="22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地端機房(On-Premises)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28612" y="2301182"/>
            <a:ext cx="853422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6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43451" y="2491678"/>
            <a:ext cx="714197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18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 ee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448564" y="3070783"/>
            <a:ext cx="765103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(40 E2)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531982" y="3108882"/>
            <a:ext cx="1287751" cy="21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84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中隔(Transit Layer)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57286" y="3101262"/>
            <a:ext cx="609588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69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10065" y="3398435"/>
            <a:ext cx="1554445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8C6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地端機房(On-mis)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707637" y="3642269"/>
            <a:ext cx="1415692" cy="19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646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一次性移與重横(Migration)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623819" y="4114697"/>
            <a:ext cx="1567028" cy="175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6B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地明捷退役(Decommissioned)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495688" y="5219570"/>
            <a:ext cx="89916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605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實現異地備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9585" y="5364346"/>
            <a:ext cx="1767799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A5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本地網延(&lt;1 ms)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9585" y="5242429"/>
            <a:ext cx="91821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3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资料對主權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407860" y="5234809"/>
            <a:ext cx="1702841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58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·需投入 NT$400初期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64266" y="5333867"/>
            <a:ext cx="1142975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5E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32则)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55864" y="5242429"/>
            <a:ext cx="1670685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B5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仍未擺胆地痛硬體生命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0832" y="5242429"/>
            <a:ext cx="1635785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7F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財務成本最低(省16%)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111487" y="5242429"/>
            <a:ext cx="16611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遷移初期需投入一次性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28452" y="5371966"/>
            <a:ext cx="1706841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6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 Ex Op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9585" y="5570081"/>
            <a:ext cx="120396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5D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無雲端待續流量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407860" y="5539602"/>
            <a:ext cx="1463007" cy="3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C5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配維人力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55864" y="5554841"/>
            <a:ext cx="1592544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RTO (原时)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32062" y="5737717"/>
            <a:ext cx="1471117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95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(需從雲端下載這原)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320832" y="5562461"/>
            <a:ext cx="1371569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605F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地運力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320832" y="5768196"/>
            <a:ext cx="1508760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隨需彈性無硬體上限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11487" y="5646279"/>
            <a:ext cx="150876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56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必須解決書版作系統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218165" y="5752956"/>
            <a:ext cx="1478246" cy="40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 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407860" y="5737717"/>
            <a:ext cx="1287780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59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5-6年面臨硬體汰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64266" y="5905352"/>
            <a:ext cx="1432528" cy="3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專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1178257" y="6583515"/>
            <a:ext cx="1013438" cy="20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480048"/>
            <a:ext cx="11180467" cy="6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06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架構二：PVE+PBS+AWSS3混合雲 5年TCO: NT$1，018萬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838979" y="967716"/>
            <a:ext cx="2136382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EF8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(僅比純地端多4%)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95288" y="1066773"/>
            <a:ext cx="6175244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3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以極小代價無縫接軌公有雲，打造零勒索風險的異地備援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687988" y="1874473"/>
            <a:ext cx="1380924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080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公有雲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4889" y="2270703"/>
            <a:ext cx="1394918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C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96390" y="2324042"/>
            <a:ext cx="2863021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51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Standard ifeyle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34889" y="2529777"/>
            <a:ext cx="1916255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(Lifecycle Rule)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869458" y="2590735"/>
            <a:ext cx="1581626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3B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實現異地災備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034489" y="2705032"/>
            <a:ext cx="216705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4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短期備份/快速存取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027269" y="2765991"/>
            <a:ext cx="145333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4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長期封存/低成本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29474" y="2804090"/>
            <a:ext cx="1201627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(3-2-1份原則)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458" y="3169841"/>
            <a:ext cx="1362551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建置極度簡便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458" y="3482253"/>
            <a:ext cx="2438154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無需添購昂貴的 Outposs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5080" y="3558451"/>
            <a:ext cx="6801535" cy="63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3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中轉層(Transit Layer) HTTPS/L443無需 Outposts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991375" y="3680368"/>
            <a:ext cx="1257272" cy="3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31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設備或專線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46981" y="4488068"/>
            <a:ext cx="2614218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地端機房(On-Premises)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69458" y="5036694"/>
            <a:ext cx="226371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仍未擺脫地端硬體生命週期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83755" y="5234809"/>
            <a:ext cx="1029081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與維護負擔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80608" y="5600560"/>
            <a:ext cx="87400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 PBS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869458" y="5615800"/>
            <a:ext cx="2241979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RTO (復原時間目標)較長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00160" y="5661518"/>
            <a:ext cx="289996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5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PVE(Prox mox VE)叢集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41486" y="5775816"/>
            <a:ext cx="2374121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(Prox mox Backup Server)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98995" y="5829154"/>
            <a:ext cx="1471117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(需從雲端下載還原)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645879" y="5951071"/>
            <a:ext cx="2218075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HCI分散式储存(40 VMs)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81550" y="5989170"/>
            <a:ext cx="120396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D3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本地備份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D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" y="457189"/>
            <a:ext cx="5445278" cy="53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4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架構三：純雲端AWS3 yrRI(台北區域)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8762781" y="502907"/>
            <a:ext cx="3150739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DC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TCO：NT$825萬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9090433" y="853419"/>
            <a:ext cx="2037462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0FCF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(比純地端省16%)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07" y="998195"/>
            <a:ext cx="545144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262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消除硬體資產包袱，實現最具財務效率的敏捷營運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488068" y="1866853"/>
            <a:ext cx="1325850" cy="40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6B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09985" y="2064968"/>
            <a:ext cx="1082016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CC5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93803" y="2240224"/>
            <a:ext cx="815320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(55%)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54219" y="2385000"/>
            <a:ext cx="2640614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74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財務成本最低(省16%)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6262" y="2720272"/>
            <a:ext cx="1240471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公有雲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54219" y="2735512"/>
            <a:ext cx="2430160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3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將Cap Ex完全轉為 OpEx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82573" y="2933627"/>
            <a:ext cx="824525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EBSgp3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1981" y="3017445"/>
            <a:ext cx="1734837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(AWS Cloud Layer)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54219" y="3078403"/>
            <a:ext cx="1552765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釋放地端維運人力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54219" y="3421294"/>
            <a:ext cx="209549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隨需彈性擴充無硬體上限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04170" y="3505112"/>
            <a:ext cx="1176659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VM群组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9378" y="3680368"/>
            <a:ext cx="1419647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(40 VMs按負载分群)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0656" y="3756566"/>
            <a:ext cx="861115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Backup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46599" y="4678563"/>
            <a:ext cx="237283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逻移初期需投入一次性工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40384" y="4777621"/>
            <a:ext cx="2863492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2F3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一次性遷移與重構(Migration)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02" y="4884298"/>
            <a:ext cx="1206399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(Transit Layer)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976136" y="4952876"/>
            <a:ext cx="1114901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543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程與測試費用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46599" y="5303387"/>
            <a:ext cx="20421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344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必須解決舊版作業系統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014235" y="5577701"/>
            <a:ext cx="2196167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38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(Legacy OS)的相容性與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9601" y="5684378"/>
            <a:ext cx="899160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5959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地端機房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657509" y="5813915"/>
            <a:ext cx="2987665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9C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地端設施退役(Decommissioned)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976136" y="5798675"/>
            <a:ext cx="128016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46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資安防護問題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1502" y="5981550"/>
            <a:ext cx="1290495" cy="25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89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(On-Premises)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254459" y="6606375"/>
            <a:ext cx="830078" cy="15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1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965" y="335272"/>
            <a:ext cx="5820326" cy="50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1D2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財務透視：五年 TCO 成本結構解構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22939" y="1074393"/>
            <a:ext cx="4023195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92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純雲端架構藉由完全消除「資本支出(Cap Ex)」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32924" y="1074393"/>
            <a:ext cx="37185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「地端人力」，實現了總體成本的最優化。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17685" y="1851614"/>
            <a:ext cx="1452393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9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Cap Ex硬體/移费用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84538" y="1851614"/>
            <a:ext cx="74676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46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52254" y="1859234"/>
            <a:ext cx="746760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67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人力維護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212350" y="1859234"/>
            <a:ext cx="815264" cy="25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705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维修/電力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33404" y="1859234"/>
            <a:ext cx="737235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雲端費用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76358" y="2217365"/>
            <a:ext cx="569301" cy="201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59634" y="2232604"/>
            <a:ext cx="1410273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9A5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雲端費用(40萬)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16502" y="2514537"/>
            <a:ext cx="942873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BCE7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維修/力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072988" y="2575496"/>
            <a:ext cx="1182935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DE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維修/電力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770401" y="2887908"/>
            <a:ext cx="1569684" cy="4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4303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遷移費用(112萬)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111087" y="3306997"/>
            <a:ext cx="956214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6D6E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人力維護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00320" y="3489873"/>
            <a:ext cx="71175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CDD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210萬)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57429" y="3916582"/>
            <a:ext cx="1893436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BC5E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軟體訂閱(106萬)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813915" y="3931822"/>
            <a:ext cx="1893436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CC5E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軟體訂閱(106萬)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059953" y="4122317"/>
            <a:ext cx="1089564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F8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雲端費用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3055544" y="4640464"/>
            <a:ext cx="1315906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A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EEx硬體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012030" y="4648084"/>
            <a:ext cx="1087950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A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Ex硬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156806" y="4861438"/>
            <a:ext cx="899141" cy="4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9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00萬)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943451" y="5653899"/>
            <a:ext cx="1402797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混合囊 PBS+S3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021854" y="5653899"/>
            <a:ext cx="1103644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C4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纯雲端 AWS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124122" y="5783435"/>
            <a:ext cx="1063552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5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(NT$978萬)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021854" y="5791055"/>
            <a:ext cx="820965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825万)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15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64" y="502907"/>
            <a:ext cx="9551223" cy="69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3030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關鍵變數與上雲阻力：Legacy OS的挑戰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453979" y="1722077"/>
            <a:ext cx="2004060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060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營運面衝擊分析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5512" y="2461198"/>
            <a:ext cx="2133550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無法直接 Lift&amp;Shift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5512" y="2765991"/>
            <a:ext cx="3181277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58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等現代公有雲無法直接原生支援過時系統(如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13132" y="2910767"/>
            <a:ext cx="1485866" cy="34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Win2000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95368" y="3345096"/>
            <a:ext cx="4145180" cy="762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7609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[40 VMs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7513132" y="3741326"/>
            <a:ext cx="1794223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高昂的授權與安全成本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05512" y="4053739"/>
            <a:ext cx="3894242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3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Win2003/2008若上雲，必須採購昂貴的 Extended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39202" y="4122317"/>
            <a:ext cx="3687991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1B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目前運行已終止支援的舊版系統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13132" y="4198515"/>
            <a:ext cx="3498512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4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Update (ESU)，否則面極大資風險。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879" y="4785240"/>
            <a:ext cx="2697416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–Wind000, P, 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05512" y="5021454"/>
            <a:ext cx="85134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38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戰略結論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23019" y="5135752"/>
            <a:ext cx="2739791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2003, 2008 R2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35992" y="5326247"/>
            <a:ext cx="3442335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B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雖然「純雲端」在數學上最便宜，但在營運面上，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13132" y="5478643"/>
            <a:ext cx="3101266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未經應程式化(eplatform/Re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15400" y="5509122"/>
            <a:ext cx="111304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- RHEL 4/6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05512" y="5691998"/>
            <a:ext cx="2224988" cy="3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5D5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architect)，將是一場災難。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54459" y="6606375"/>
            <a:ext cx="830078" cy="15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F5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6056" y="693403"/>
            <a:ext cx="5819582" cy="54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070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綜合決策矩陣：跨維度戰略評估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92780" y="2133547"/>
            <a:ext cx="111490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7A8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纯地端 PVE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640" y="2133547"/>
            <a:ext cx="149637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8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混合雲 PBS+S3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50449" y="2133547"/>
            <a:ext cx="116112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76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純雲端 AWS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90433" y="2865048"/>
            <a:ext cx="157993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35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(NT$825萬-最優)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38499" y="2872668"/>
            <a:ext cx="113549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8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(NT$978萬)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65831" y="2872668"/>
            <a:ext cx="175939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成本效益(5年 TCO)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8260" y="2872668"/>
            <a:ext cx="1551548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28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！(NT$1,018萬)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01342" y="3596550"/>
            <a:ext cx="132504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48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×(單點風險)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35209" y="3596550"/>
            <a:ext cx="1509166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35C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(雲端高可用性)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64426" y="3604170"/>
            <a:ext cx="232183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(異地備份，零勒索風險)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35352" y="3611790"/>
            <a:ext cx="1986432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災備與資料韌性(DR)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037094" y="4328052"/>
            <a:ext cx="191550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85E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(零硬體，釋放人力)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73451" y="4343291"/>
            <a:ext cx="196253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637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維運負擔與硬體折舊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67013" y="4335672"/>
            <a:ext cx="225759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C48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×(需管機房，5年換機)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72988" y="4335672"/>
            <a:ext cx="225759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747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×(需管機房，5年換機)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73451" y="5082413"/>
            <a:ext cx="199034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32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遷移摩擦力(上雲阻力)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73691" y="5074793"/>
            <a:ext cx="218579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F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(PVE 直上，無 OS 阻力)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981550" y="5059554"/>
            <a:ext cx="2330031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8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√(PVE 直上，無 OS 阻力)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80848" y="5067173"/>
            <a:ext cx="2416351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934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(需先解决28台Legacy OS)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94745" y="5737717"/>
            <a:ext cx="280015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76F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最佳表現|中等/需留意|顯著劣势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4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824" y="525767"/>
            <a:ext cx="7029067" cy="53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A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後續執行計畫展開：階段性轉型路線圖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67716" y="1912572"/>
            <a:ext cx="2661285" cy="44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FD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階段一：立即保護與混合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724282" y="1920192"/>
            <a:ext cx="2661285" cy="4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EEF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階段二：應用現代化評估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88468" y="1927812"/>
            <a:ext cx="266128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FD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階段三：全面遷徙與雲端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03930" y="2217365"/>
            <a:ext cx="2025700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EFEE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雲建立(第1-3個月)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84298" y="2217365"/>
            <a:ext cx="2160574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FAF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與試點(第4-12個月)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53276" y="2217365"/>
            <a:ext cx="1577645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FFEE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優化(第2年起)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28674" y="3855624"/>
            <a:ext cx="2177871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03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•部署混合雲 PBS+S3備份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00880" y="3855624"/>
            <a:ext cx="1959291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36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逐步將現代化後的應用遷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77621" y="3855624"/>
            <a:ext cx="189843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•評估28台Legacy OS應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09" y="4046119"/>
            <a:ext cx="140693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34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與災難復原機制。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13835" y="4046119"/>
            <a:ext cx="206720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用的容器化或重構可行性。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62781" y="4046119"/>
            <a:ext cx="149186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徙至純雲端 AWS。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85240" y="4434729"/>
            <a:ext cx="29565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•選擇非關鍵應用進行試點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09" y="4434729"/>
            <a:ext cx="2390089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36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以最小成本(NT$40萬)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770401" y="4434729"/>
            <a:ext cx="2738171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實現最佳長期財務回報(省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975736" y="4625224"/>
            <a:ext cx="1432528" cy="35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3838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遷徙至 AWS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09" y="4625224"/>
            <a:ext cx="1746598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確保舊系統數據安全。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78021" y="4625224"/>
            <a:ext cx="2121408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0303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16%)與 IT 敏捷化。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70001" y="5006215"/>
            <a:ext cx="2621218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•建立雲端原生技能與營運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9426" y="5006215"/>
            <a:ext cx="2628838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37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•淘汰地端硬體，消除未來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28674" y="5013835"/>
            <a:ext cx="2552640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31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•為應用現代化爭取時間，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770401" y="5196710"/>
            <a:ext cx="1188694" cy="368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資本支出。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234409" y="5204330"/>
            <a:ext cx="1973534" cy="35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維持地端穩定運行。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03307" y="6111087"/>
            <a:ext cx="2906128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43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註：持績排除高成本之 AWSOutposts 架構。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70637" y="6606375"/>
            <a:ext cx="102105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15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2026-04-29T15:20:26Z</dcterms:created>
  <dcterms:modified xsi:type="dcterms:W3CDTF">2026-04-29T15:20:26Z</dcterms:modified>
</cp:coreProperties>
</file>