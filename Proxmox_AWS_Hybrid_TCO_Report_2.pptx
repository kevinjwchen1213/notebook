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63" r:id="rId2"/>
    <p:sldId id="264" r:id="rId3"/>
    <p:sldId id="265" r:id="rId4"/>
    <p:sldId id="266" r:id="rId5"/>
    <p:sldId id="267" r:id="rId6"/>
    <p:sldId id="268" r:id="rId7"/>
  </p:sldIdLst>
  <p:sldSz cx="12192000" cy="6804025"/>
  <p:notesSz cx="6804025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58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3752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0466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6550" y="335272"/>
            <a:ext cx="6324634" cy="496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AF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5年累積 TCO 趨勢：複合成本的擴張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1198850" y="1264888"/>
            <a:ext cx="665467" cy="309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BFC6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5000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9270768" y="1305527"/>
            <a:ext cx="2103629" cy="321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9256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PVE + Outposts Rack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306327" y="1539202"/>
            <a:ext cx="1846928" cy="327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0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（終點 NT$4,852萬)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93770" y="2169106"/>
            <a:ext cx="675627" cy="321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C9CF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4000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523292" y="2514537"/>
            <a:ext cx="3266468" cy="315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ED5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地端與 S3的組合帶來極平緩的 OpEx 曲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523292" y="2758371"/>
            <a:ext cx="3199675" cy="309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CD4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線。反觀 Outposts，嚴苛的3年合約綁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93770" y="3078403"/>
            <a:ext cx="675627" cy="327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C4CD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3000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528372" y="3002205"/>
            <a:ext cx="3412013" cy="309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AD1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定與高昂的經常性維護費，將使 IT 預算在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528372" y="3246039"/>
            <a:ext cx="2569660" cy="309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5CC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第三年後面臨巨大的續約斷崖。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188690" y="3987700"/>
            <a:ext cx="675627" cy="327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C6CC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9372366" y="4124857"/>
            <a:ext cx="1963037" cy="315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B99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公有雲 Reserved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9397765" y="4368691"/>
            <a:ext cx="1618759" cy="327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B19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(終點 NT$1,720萬)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203930" y="4907157"/>
            <a:ext cx="660387" cy="315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B7BE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9372366" y="4775081"/>
            <a:ext cx="819640" cy="315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8EC0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PBS+S3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9397765" y="5013835"/>
            <a:ext cx="1371681" cy="327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82B5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(終點 NT$76萬)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9372366" y="5333867"/>
            <a:ext cx="1074187" cy="327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466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纯地端 PVE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9397765" y="5582780"/>
            <a:ext cx="1698698" cy="327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4968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（終點 NT$750萬)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2108147" y="6024729"/>
            <a:ext cx="772144" cy="309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CACF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Year0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3444154" y="6019650"/>
            <a:ext cx="767064" cy="321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BDC1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year1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775081" y="6014570"/>
            <a:ext cx="782304" cy="327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C3C8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year2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116167" y="6014570"/>
            <a:ext cx="777224" cy="321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C5C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year3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7452174" y="6019650"/>
            <a:ext cx="777224" cy="315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BDC3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Year4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8788180" y="6019650"/>
            <a:ext cx="772144" cy="321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C4C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11069040" y="6563196"/>
            <a:ext cx="1122655" cy="241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A8AE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Notebook LM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0466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1310" y="299713"/>
            <a:ext cx="7502937" cy="607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AFB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Outposts 規格迷思：Rack 與 Server 的選擇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3581310" y="3073323"/>
            <a:ext cx="2318182" cy="403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8BCD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Outposts Rack (42 U)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7492813" y="3088563"/>
            <a:ext cx="2354225" cy="368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8BCE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Outposts Server (2 U)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3657509" y="3621949"/>
            <a:ext cx="2368382" cy="35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E1E3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起始月費：~$15,000/月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594410" y="3627029"/>
            <a:ext cx="3652878" cy="33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DFE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起始月費：~$548/月(僅限 EC2/ECS)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3657509" y="3967381"/>
            <a:ext cx="2256565" cy="35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DCDD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特色：完整 AWS 服務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594410" y="3977541"/>
            <a:ext cx="3652878" cy="332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DEDF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起始月費：~$548/月(僅限 EC2/ECS)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3672748" y="4256934"/>
            <a:ext cx="1552532" cy="33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E6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(EBS/S3/EKS)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7594410" y="4333132"/>
            <a:ext cx="4025668" cy="315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9F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隱藏陷阱：即使月費低廉，仍強制要求最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3652429" y="4597285"/>
            <a:ext cx="3252604" cy="332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D4D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評價：針對40 VMs絕對效能過剩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7599490" y="4612525"/>
            <a:ext cx="3604369" cy="33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B17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低$5,500/月的Enterprise Support。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3672748" y="4876678"/>
            <a:ext cx="1101493" cy="356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rgbClr val="E6E7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(Overkil)。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2174478" y="5653899"/>
            <a:ext cx="7842739" cy="356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8AC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除非有極度嚴格的醫療/金融法規強制要求『零資料出境』的本地熱備援，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2021789" y="5994250"/>
            <a:ext cx="8369765" cy="36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86C8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否則連最小台的1 U/2 UOut posts Server都無法擺脫高昂的強制支援費溢價。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11063960" y="6568276"/>
            <a:ext cx="1127735" cy="236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A7AD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Notboo LM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0466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54729" y="330192"/>
            <a:ext cx="4465542" cy="508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FAFB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企業支援訂閱策略：打破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5816455" y="314952"/>
            <a:ext cx="2499170" cy="554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FAFB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「昂貴授權」</a:t>
            </a:r>
            <a:endParaRPr lang="en-US" sz="3100" dirty="0"/>
          </a:p>
        </p:txBody>
      </p:sp>
      <p:sp>
        <p:nvSpPr>
          <p:cNvPr id="5" name="Text 2"/>
          <p:cNvSpPr/>
          <p:nvPr/>
        </p:nvSpPr>
        <p:spPr>
          <a:xfrm>
            <a:off x="1503642" y="1574761"/>
            <a:ext cx="1401604" cy="379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CC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856359" y="1503642"/>
            <a:ext cx="758108" cy="467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8F9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101662" y="1534122"/>
            <a:ext cx="1121658" cy="397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8F9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570481" y="1544281"/>
            <a:ext cx="1117193" cy="373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9F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529042" y="2494218"/>
            <a:ext cx="1358146" cy="391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608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90/socket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4383930" y="2484058"/>
            <a:ext cx="6893391" cy="403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3F4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130/socket 580/socket 920/socket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1518882" y="3515272"/>
            <a:ext cx="1637881" cy="368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31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穩定套件庫，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4460128" y="3505112"/>
            <a:ext cx="1738693" cy="397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DEE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包含基礎遠端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9463803" y="3505112"/>
            <a:ext cx="1556220" cy="408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DADB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無限次電話/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6791790" y="3687988"/>
            <a:ext cx="1922450" cy="397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6E6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包含優先支援。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1635719" y="3875943"/>
            <a:ext cx="1364156" cy="368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70A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無 Ticket。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4424569" y="3881023"/>
            <a:ext cx="1612882" cy="379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2F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 支援。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9509522" y="3855624"/>
            <a:ext cx="1324567" cy="426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E9EA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遠端支援。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1249649" y="4739522"/>
            <a:ext cx="2129287" cy="35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7FB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台湾70%企業首選。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437224" y="5648819"/>
            <a:ext cx="10754471" cy="408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A8C5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Insight:與 VMware 鎖定功能的重稅不同，PVE 全功能皆開源免費，訂閱僅為</a:t>
            </a:r>
            <a:endParaRPr lang="en-US" sz="2300" dirty="0"/>
          </a:p>
        </p:txBody>
      </p:sp>
      <p:sp>
        <p:nvSpPr>
          <p:cNvPr id="20" name="Text 17"/>
          <p:cNvSpPr/>
          <p:nvPr/>
        </p:nvSpPr>
        <p:spPr>
          <a:xfrm>
            <a:off x="1727756" y="5989170"/>
            <a:ext cx="10463939" cy="368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8FC2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『獲取穩定更新與技術支援』。其費用僅佔整體 TCO 的10-20%，極具競爭力。</a:t>
            </a:r>
            <a:endParaRPr lang="en-US" sz="2300" dirty="0"/>
          </a:p>
        </p:txBody>
      </p:sp>
      <p:sp>
        <p:nvSpPr>
          <p:cNvPr id="21" name="Text 18"/>
          <p:cNvSpPr/>
          <p:nvPr/>
        </p:nvSpPr>
        <p:spPr>
          <a:xfrm>
            <a:off x="11074120" y="6563196"/>
            <a:ext cx="1117575" cy="241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A7AD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Notebook LM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0466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357483" y="304792"/>
            <a:ext cx="5476729" cy="449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6FB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雲地混合方案：綜合評估決策矩陣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9585720" y="320032"/>
            <a:ext cx="548630" cy="245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263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80790</a:t>
            </a:r>
            <a:endParaRPr lang="en-US" sz="600" dirty="0"/>
          </a:p>
        </p:txBody>
      </p:sp>
      <p:sp>
        <p:nvSpPr>
          <p:cNvPr id="5" name="Text 2"/>
          <p:cNvSpPr/>
          <p:nvPr/>
        </p:nvSpPr>
        <p:spPr>
          <a:xfrm>
            <a:off x="2128467" y="1244569"/>
            <a:ext cx="1104163" cy="356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B7D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評估維度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4180735" y="1254729"/>
            <a:ext cx="5534078" cy="36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B7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方案一（PVE+Outposts) 方案二（PVE+PBS+S3)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666198" y="1910032"/>
            <a:ext cx="1640041" cy="35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7F8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5年 TCO 合計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4500767" y="1904952"/>
            <a:ext cx="1440447" cy="356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C68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NT$4,852萬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7909362" y="1874473"/>
            <a:ext cx="2040969" cy="426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56A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NT$766萬(勝)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676358" y="2570416"/>
            <a:ext cx="2097464" cy="33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3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 復原能力 RTO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4490608" y="2560256"/>
            <a:ext cx="1621760" cy="368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7EC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&lt;1小時(熱備)(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7899203" y="2545016"/>
            <a:ext cx="2194709" cy="397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AB9C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2-4小時(冷備)()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1666198" y="3225719"/>
            <a:ext cx="1341571" cy="344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網路依賴度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4018180" y="3220639"/>
            <a:ext cx="2719559" cy="356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C5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極高(&lt;10 ms專線要求（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7563931" y="3220639"/>
            <a:ext cx="2575499" cy="36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B5D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低(異步 HTTPS 傳輸)（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1676358" y="3881023"/>
            <a:ext cx="1345672" cy="35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E7E8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管理複雜度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4068978" y="3886103"/>
            <a:ext cx="3165674" cy="356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C27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高（AWS/PVE 雙平台)（区）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7574091" y="3881023"/>
            <a:ext cx="2569233" cy="36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BAD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低(PBS 統一管理)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1671278" y="4541406"/>
            <a:ext cx="1347602" cy="35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E6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資料合規性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4023259" y="4541406"/>
            <a:ext cx="2221720" cy="35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A7C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高(嚴格鎖在地端)（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7548691" y="4505847"/>
            <a:ext cx="3552679" cy="408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B3B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中(存放 AWS 台北區域)()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3622669" y="5572621"/>
            <a:ext cx="4946357" cy="368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8AE4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方案二犧牲了毫秒級的熱切換能力，卻換來了</a:t>
            </a:r>
            <a:endParaRPr lang="en-US" sz="1900" dirty="0"/>
          </a:p>
        </p:txBody>
      </p:sp>
      <p:sp>
        <p:nvSpPr>
          <p:cNvPr id="23" name="Text 20"/>
          <p:cNvSpPr/>
          <p:nvPr/>
        </p:nvSpPr>
        <p:spPr>
          <a:xfrm>
            <a:off x="3518493" y="5948531"/>
            <a:ext cx="5154710" cy="403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AE5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84%(NT$4，086萬)的巨额预算釋放。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11074120" y="6568276"/>
            <a:ext cx="1117575" cy="236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A8A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Notebook LM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0466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81725" y="274313"/>
            <a:ext cx="9293424" cy="619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DC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漸進式實踐：推薦佈署藍圖(Rollout Road map)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1102332" y="1762716"/>
            <a:ext cx="2037919" cy="379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5FA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Phase1:建立核心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4698883" y="1762716"/>
            <a:ext cx="2278946" cy="373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4F9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Phase2:監控與爆破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8584985" y="1757636"/>
            <a:ext cx="2035989" cy="379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4F9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Phase3:合規覆核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595080" y="2128467"/>
            <a:ext cx="1263392" cy="449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6F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(0-12個月)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5562461" y="2118307"/>
            <a:ext cx="1224253" cy="473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3F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(1-3年)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9286008" y="2113227"/>
            <a:ext cx="1229333" cy="479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4F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(3-5年)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1153131" y="2920927"/>
            <a:ext cx="2129060" cy="373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部署3-Node PVE+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4917317" y="2920927"/>
            <a:ext cx="2342179" cy="36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EEF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監控40 VMs成長率。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8661183" y="2920927"/>
            <a:ext cx="2300853" cy="356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E7E7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僅當業務擴張且面臨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1168371" y="3281598"/>
            <a:ext cx="1511022" cy="379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5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Ceph + PBS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8661183" y="3251119"/>
            <a:ext cx="2058137" cy="36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E6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極嚴格的法規限制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4912237" y="3464473"/>
            <a:ext cx="2218580" cy="368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E2E3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若需雲端運算爆破，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8686583" y="3576231"/>
            <a:ext cx="2224675" cy="368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E5E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(零資料移動)時，才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1158211" y="3825144"/>
            <a:ext cx="2399931" cy="35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1F1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啟動 PBS 至 AWSS3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4917317" y="3820064"/>
            <a:ext cx="2501708" cy="368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EBED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優先採用 AWS 公有雲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8656104" y="3906422"/>
            <a:ext cx="1587423" cy="368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E1E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重新評估導入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1163291" y="4175656"/>
            <a:ext cx="2318224" cy="36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EDED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的備份同步。以最低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4912237" y="4175656"/>
            <a:ext cx="1762185" cy="356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5F7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EC2 Reserved</a:t>
            </a:r>
            <a:endParaRPr lang="en-US" sz="1900" dirty="0"/>
          </a:p>
        </p:txBody>
      </p:sp>
      <p:sp>
        <p:nvSpPr>
          <p:cNvPr id="22" name="Text 19"/>
          <p:cNvSpPr/>
          <p:nvPr/>
        </p:nvSpPr>
        <p:spPr>
          <a:xfrm>
            <a:off x="8666263" y="4251854"/>
            <a:ext cx="2027839" cy="368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3F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Outposts Server</a:t>
            </a:r>
            <a:endParaRPr lang="en-US" sz="1900" dirty="0"/>
          </a:p>
        </p:txBody>
      </p:sp>
      <p:sp>
        <p:nvSpPr>
          <p:cNvPr id="23" name="Text 20"/>
          <p:cNvSpPr/>
          <p:nvPr/>
        </p:nvSpPr>
        <p:spPr>
          <a:xfrm>
            <a:off x="1173451" y="4531247"/>
            <a:ext cx="1988169" cy="356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DFE0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成本驗證穩定性。</a:t>
            </a:r>
            <a:endParaRPr lang="en-US" sz="1900" dirty="0"/>
          </a:p>
        </p:txBody>
      </p:sp>
      <p:sp>
        <p:nvSpPr>
          <p:cNvPr id="24" name="Text 21"/>
          <p:cNvSpPr/>
          <p:nvPr/>
        </p:nvSpPr>
        <p:spPr>
          <a:xfrm>
            <a:off x="4912237" y="4536327"/>
            <a:ext cx="1255028" cy="356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4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Instances</a:t>
            </a:r>
            <a:endParaRPr lang="en-US" sz="1900" dirty="0"/>
          </a:p>
        </p:txBody>
      </p:sp>
      <p:sp>
        <p:nvSpPr>
          <p:cNvPr id="25" name="Text 22"/>
          <p:cNvSpPr/>
          <p:nvPr/>
        </p:nvSpPr>
        <p:spPr>
          <a:xfrm>
            <a:off x="8671343" y="4556646"/>
            <a:ext cx="2247870" cy="403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EF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 U/2 U)的必要性。</a:t>
            </a:r>
            <a:endParaRPr lang="en-US" sz="1900" dirty="0"/>
          </a:p>
        </p:txBody>
      </p:sp>
      <p:sp>
        <p:nvSpPr>
          <p:cNvPr id="26" name="Text 23"/>
          <p:cNvSpPr/>
          <p:nvPr/>
        </p:nvSpPr>
        <p:spPr>
          <a:xfrm>
            <a:off x="4932557" y="4871598"/>
            <a:ext cx="2135002" cy="403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3F4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(比 Outposts 便宜</a:t>
            </a:r>
            <a:endParaRPr lang="en-US" sz="1900" dirty="0"/>
          </a:p>
        </p:txBody>
      </p:sp>
      <p:sp>
        <p:nvSpPr>
          <p:cNvPr id="27" name="Text 24"/>
          <p:cNvSpPr/>
          <p:nvPr/>
        </p:nvSpPr>
        <p:spPr>
          <a:xfrm>
            <a:off x="4907157" y="5227189"/>
            <a:ext cx="924344" cy="403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79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↓45%)°</a:t>
            </a:r>
            <a:endParaRPr lang="en-US" sz="1900" dirty="0"/>
          </a:p>
        </p:txBody>
      </p:sp>
      <p:sp>
        <p:nvSpPr>
          <p:cNvPr id="28" name="Text 25"/>
          <p:cNvSpPr/>
          <p:nvPr/>
        </p:nvSpPr>
        <p:spPr>
          <a:xfrm>
            <a:off x="11074120" y="6563196"/>
            <a:ext cx="1117575" cy="241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A7A8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Notebook LM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0466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64" y="299713"/>
            <a:ext cx="6104505" cy="590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D8F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結論與下一步行動(Next Steps)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8275113" y="1701757"/>
            <a:ext cx="3085699" cy="426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 PVECommunity 版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929617" y="2158946"/>
            <a:ext cx="4968414" cy="554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4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從62個舊節點縮編至3個高效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8285273" y="2082748"/>
            <a:ext cx="3071648" cy="403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5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本啟動40 VMs的 PoC 概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8270033" y="2458659"/>
            <a:ext cx="1121283" cy="426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CEC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念驗證。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2321502" y="2717732"/>
            <a:ext cx="4116833" cy="502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AFB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節點，是一次重塑 IT 財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955016" y="3261278"/>
            <a:ext cx="4827840" cy="502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AFAF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務體質的絕佳契機·請避免在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8290353" y="3215560"/>
            <a:ext cx="3120907" cy="368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實作並測試 PBS 至 AWS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8285273" y="3596550"/>
            <a:ext cx="2510597" cy="373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1F1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S3的資料同步流程。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929617" y="3774346"/>
            <a:ext cx="5220066" cy="560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AF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脫離 VMware 的同時，立刻讓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995655" y="4343291"/>
            <a:ext cx="5514213" cy="502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AFB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自己陷入另一個高成本硬體綁定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8290353" y="4328052"/>
            <a:ext cx="3070860" cy="368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3F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在承諾任何高價值的混合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8300512" y="4709042"/>
            <a:ext cx="3067393" cy="368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0F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合雲硬體前，先真實評估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965176" y="4886838"/>
            <a:ext cx="3074289" cy="502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9F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的雲端生態圈中。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8295433" y="5090033"/>
            <a:ext cx="2709112" cy="379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3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企業對 RTO(復原時間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8310672" y="5476103"/>
            <a:ext cx="2569466" cy="373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1F1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目標)的絕對容忍度。</a:t>
            </a:r>
            <a:endParaRPr lang="en-US" sz="2100" dirty="0"/>
          </a:p>
        </p:txBody>
      </p:sp>
      <p:sp>
        <p:nvSpPr>
          <p:cNvPr id="19" name="Text 16"/>
          <p:cNvSpPr/>
          <p:nvPr/>
        </p:nvSpPr>
        <p:spPr>
          <a:xfrm>
            <a:off x="11074120" y="6568276"/>
            <a:ext cx="1117575" cy="236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A7A9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Notebook LM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507</Words>
  <Application>Microsoft Macintosh PowerPoint</Application>
  <PresentationFormat>自訂</PresentationFormat>
  <Paragraphs>130</Paragraphs>
  <Slides>6</Slides>
  <Notes>6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0" baseType="lpstr">
      <vt:lpstr>Arial</vt:lpstr>
      <vt:lpstr>Calibri</vt:lpstr>
      <vt:lpstr>Times New Roman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進文 陳</cp:lastModifiedBy>
  <cp:revision>2</cp:revision>
  <dcterms:created xsi:type="dcterms:W3CDTF">2026-04-20T17:32:29Z</dcterms:created>
  <dcterms:modified xsi:type="dcterms:W3CDTF">2026-04-20T21:51:07Z</dcterms:modified>
</cp:coreProperties>
</file>