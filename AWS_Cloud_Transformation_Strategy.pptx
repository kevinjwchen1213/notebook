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04667"/>
  <p:notesSz cx="680466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43" y="632444"/>
            <a:ext cx="6588058" cy="481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4040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基礎設施轉型迫在眉睫：成本暴增與技術債雙重挑戰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78163" y="1203930"/>
            <a:ext cx="8470557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F72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面對 VMware 授權模式巨變與硬體折舊，我們必須重新定義 IT 戰略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58291" y="2628834"/>
            <a:ext cx="845462" cy="86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B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523962" y="3634649"/>
            <a:ext cx="1691601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授權成本暴增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05672" y="3634649"/>
            <a:ext cx="1676362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上雲轉型阻力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49106" y="3634649"/>
            <a:ext cx="1653502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硬體重置壓力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15" y="4053739"/>
            <a:ext cx="230847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6B6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授權成本面臨指數級上升風險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41406" y="4053739"/>
            <a:ext cx="2658885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686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需立即投入 NT$400萬重置Cap Ex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98995" y="4053739"/>
            <a:ext cx="1498806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6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28台為Legacy 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02765" y="4564266"/>
            <a:ext cx="2355687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43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現有40台 VM 中高達28台包含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761" y="4564266"/>
            <a:ext cx="2656539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545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62台老舊 vSAN 節點汰換，若維持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6294" y="4564266"/>
            <a:ext cx="2473403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4A4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從買斷制(Cap Ex)轉為強制訂閱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21054" y="4762381"/>
            <a:ext cx="2522264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4E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(OpEx)，且最低計費門檻大幅拉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4282" y="4823339"/>
            <a:ext cx="2629089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545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地端營運，將產生龐大且無法回收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26567" y="4823339"/>
            <a:ext cx="2547441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49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Win2003/2008等終止支援系統，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52476" y="5021454"/>
            <a:ext cx="2571939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高，喪失議價能力與資產控制權。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95768" y="5082413"/>
            <a:ext cx="1416462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的硬體沉沒成本。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57046" y="5082413"/>
            <a:ext cx="2629089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46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直接上雲存在嚴重的相容性與責安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059953" y="5333867"/>
            <a:ext cx="1581530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48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死角，需專案介入。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35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387" y="518147"/>
            <a:ext cx="7362143" cy="49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4040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戰略選項評估：三大架構方案與5年 TCO 總體檢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10527" y="1021054"/>
            <a:ext cx="6056098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D2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消除資本支出，純雲端 AWS 方案展現最高財務效益(-15%)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318627" y="1950671"/>
            <a:ext cx="937240" cy="622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33B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NT400万 CapE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21" y="2103067"/>
            <a:ext cx="3329860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基準-方案一：純地端PVE (NT$978萬)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51311" y="2141166"/>
            <a:ext cx="1313051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2EA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NT578万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500097" y="2202125"/>
            <a:ext cx="910917" cy="47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23B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+40萬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9601" y="2887908"/>
            <a:ext cx="3320431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過渡-方案二：PBS+S3混合雲(NT$1018萬)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18947" y="2743131"/>
            <a:ext cx="731505" cy="41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D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31119" y="3527972"/>
            <a:ext cx="1120120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071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098053" y="3520352"/>
            <a:ext cx="1936245" cy="44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3A1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ain -153萬最省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7700" y="3672748"/>
            <a:ext cx="3360339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3F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推薦-方案三：純雲端 AWS(NT$825萬)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62541" y="3710847"/>
            <a:ext cx="1059157" cy="40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AE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713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351311" y="4861438"/>
            <a:ext cx="899141" cy="26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AD7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戰略目標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56646" y="5006215"/>
            <a:ext cx="1270539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94A5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安全過渡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46741" y="5006215"/>
            <a:ext cx="1285521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A4D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维持現狀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58931" y="5150991"/>
            <a:ext cx="2170240" cy="44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5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零硬體Cap Ex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746741" y="5646279"/>
            <a:ext cx="2700299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方案一(純地端)無雲端支出，但需吃下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49026" y="5646279"/>
            <a:ext cx="2709824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方案二(混合雲)兼顧地端效能與雲端異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58931" y="5646279"/>
            <a:ext cx="277065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方案三(純需端 AWS)資源高彈性，微底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58931" y="5890113"/>
            <a:ext cx="238506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5D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消除硬折舊風險，長期成本最佳。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6741" y="5890113"/>
            <a:ext cx="2996662" cy="25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53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沈重的400萬硬體Cap Ex與長期機房維運。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9506" y="5897733"/>
            <a:ext cx="3049855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58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地備份，能買到資料韌性，但總 TCO 最高。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254459" y="6606375"/>
            <a:ext cx="830078" cy="15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35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49" y="342891"/>
            <a:ext cx="5761900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050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方案一：純地端 PVE 架構(維持現狀的替代方案)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34329" y="830559"/>
            <a:ext cx="6892085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2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擺脫 VMware 授權綁架，但仍受限於沉重的硬體資本支出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320832" y="1661118"/>
            <a:ext cx="3055547" cy="34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TCO: NT$978萬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38899" y="2529777"/>
            <a:ext cx="3120263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E605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伺服器硬體重置：NT$400萬(Cap Ex)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38899" y="3322237"/>
            <a:ext cx="2413219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5D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機房電力與維修：NT$262萬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1981" y="4015640"/>
            <a:ext cx="1362551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下層地端機房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519" y="4122317"/>
            <a:ext cx="364673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PVE/PBS 軟體訂閱與人力：NT$316萬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58291" y="5112892"/>
            <a:ext cx="1405082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 Cluster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60816" y="5166231"/>
            <a:ext cx="2444392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E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即使免除 VMware 授權，仍需承擔高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24042" y="5250049"/>
            <a:ext cx="790035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54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((Ceph HI)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51854" y="5250049"/>
            <a:ext cx="1775602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3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(Prox mox Backup Server)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76056" y="5448164"/>
            <a:ext cx="2860436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4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達67%的實體營運與資本支出，缺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37957" y="5737717"/>
            <a:ext cx="1416462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7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乏未來擴充彈性。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03067" y="5798675"/>
            <a:ext cx="378911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VMs | 112 vCPU | 128 GB RAM | 3 TB Storage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25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329" y="350511"/>
            <a:ext cx="5600803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070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方案二：PBS+S3混合雲架構(安全的過渡策略)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34329" y="830559"/>
            <a:ext cx="5480685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D2D2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最小變動下實現雲端異地備份，強化資料韌性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252254" y="1661118"/>
            <a:ext cx="2668689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TCO: NT$1018萬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9601" y="1722077"/>
            <a:ext cx="1061085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7EA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上層雲端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27029" y="2133547"/>
            <a:ext cx="672867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5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ifec 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36454" y="2400240"/>
            <a:ext cx="845802" cy="30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1886" y="2400240"/>
            <a:ext cx="842133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38899" y="2537397"/>
            <a:ext cx="3162224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383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地端基礎建設 TCO：NT$978萬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98355" y="2522157"/>
            <a:ext cx="703976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697" y="3086023"/>
            <a:ext cx="2124024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6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直连 S3冷份，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76998" y="3329857"/>
            <a:ext cx="2059495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新增雲端 S3備份服務：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206135" y="3436534"/>
            <a:ext cx="2910107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 VPN 設備、免 Outposts 机櫃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38899" y="3634649"/>
            <a:ext cx="218836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F65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+NT$40萬(含傳輸與儲存）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1981" y="4015640"/>
            <a:ext cx="1061085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B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下層地端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68436" y="4884298"/>
            <a:ext cx="3078711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30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 TCO 突破千萬。雖然是買到異地災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958291" y="5112892"/>
            <a:ext cx="1783039" cy="2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 Cluster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68436" y="5173851"/>
            <a:ext cx="3003231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4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備的最具性價比作法，但仍墊高了整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324042" y="5250049"/>
            <a:ext cx="1043917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1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((Ceph Hl)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51854" y="5250049"/>
            <a:ext cx="2194509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(Prox mox Backup Server)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160816" y="5463403"/>
            <a:ext cx="2993706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38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體維運成本，建議定位為轉型過渡期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53196" y="5745336"/>
            <a:ext cx="1003935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C3D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的戰術手段。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103067" y="5798675"/>
            <a:ext cx="3594661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VMs | 112 vCPU | 128 GB RAM | 3 TB Storage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25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387" y="388610"/>
            <a:ext cx="5207756" cy="517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4050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方案三：純雲端 AWS 架構(戰略最佳解)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25767" y="914377"/>
            <a:ext cx="8034904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536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徹底消除硬體折舊風險，轉向敏捷且具備財務彈性的雲端環境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484058" y="1638259"/>
            <a:ext cx="2393402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上層雲端(AWS 台北區域)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5081" y="1638259"/>
            <a:ext cx="2279384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TCO: NT$825萬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62781" y="2019250"/>
            <a:ext cx="1629537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53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(採用3年 RI 優惠)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12190" y="2583115"/>
            <a:ext cx="3282079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1.硬體與機房建置(Cap Ex/OpEx)：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70321" y="2865048"/>
            <a:ext cx="1824889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693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NT$0萬(徹底消除)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2508" y="3032684"/>
            <a:ext cx="3710154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EC2 VM群組 EBSgp3系统碟 S3快照備份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04570" y="3474633"/>
            <a:ext cx="207222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4C4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2.一次性上雲移工程：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93180" y="3764186"/>
            <a:ext cx="1058294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5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NT$112萬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04570" y="4381390"/>
            <a:ext cx="295911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9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3.雲端服務訂開(EC2/EBS/S3)：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68898" y="4526167"/>
            <a:ext cx="956214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6252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下層地端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93180" y="4663323"/>
            <a:ext cx="1069504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6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NT$713萬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14537" y="4952876"/>
            <a:ext cx="3156395" cy="96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900" b="1" dirty="0">
                <a:solidFill>
                  <a:srgbClr val="E6FEE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全面退役</a:t>
            </a:r>
            <a:endParaRPr lang="en-US" sz="5900" dirty="0"/>
          </a:p>
        </p:txBody>
      </p:sp>
      <p:sp>
        <p:nvSpPr>
          <p:cNvPr id="17" name="Text 14"/>
          <p:cNvSpPr/>
          <p:nvPr/>
        </p:nvSpPr>
        <p:spPr>
          <a:xfrm>
            <a:off x="7596950" y="5311007"/>
            <a:ext cx="3301181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0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TCO 最佳化！消除 NT$400萬沉沒資本，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96950" y="5509122"/>
            <a:ext cx="3347959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40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將基礎設施轉為靈活的 OpEx 投資，同時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64888" y="5813915"/>
            <a:ext cx="416927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ABC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EC2 VM群組 EBSgp3系統碟 S3快照備份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596950" y="5852014"/>
            <a:ext cx="2522843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39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獲取 AWS 企業級 SLA。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25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88" y="380990"/>
            <a:ext cx="6985635" cy="52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050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雲端轉型與現代化：四階段落地時程藍圖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80048" y="975336"/>
            <a:ext cx="564261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B1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穩健控管技術債風險，確保業務連績性的無縫接軌計畫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59011" y="1843994"/>
            <a:ext cx="2395553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9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Year1+|雲端優化與地端退役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242829" y="2308802"/>
            <a:ext cx="2364714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全面雲端化，啟用3-ye ar RI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42829" y="2491678"/>
            <a:ext cx="2251406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4E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節費計畫，舊有400萬硬體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15880" y="2590735"/>
            <a:ext cx="2139788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M7-M12|階段性上雲遷移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209" y="2811710"/>
            <a:ext cx="1327403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49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正式退役免購。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640" y="3047924"/>
            <a:ext cx="2269608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4B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分批將現代化後的 VM 遷移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58451" y="3299378"/>
            <a:ext cx="2212659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272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M4-M6|盤點與現代化工程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640" y="3299378"/>
            <a:ext cx="2115281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646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 AWS 台北區域(先測試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372366" y="3337477"/>
            <a:ext cx="1834557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894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实現 TCO 最佳化與零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31119" y="3558451"/>
            <a:ext cx="1404113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4B4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機，後生產機)。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48564" y="3604170"/>
            <a:ext cx="1219008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7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Ex營運。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35592" y="3756566"/>
            <a:ext cx="1663874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針對28台Legacy 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1022" y="4068978"/>
            <a:ext cx="2390396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M1-M3|立即止血與安全防護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43211" y="3947061"/>
            <a:ext cx="1941302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(Win2 0 03/20 08)進應程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37797" y="4076598"/>
            <a:ext cx="1936813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87E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無縫切換，最小化業務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543211" y="4183275"/>
            <a:ext cx="1936813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4F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式重構或作業系統升級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21614" y="4350911"/>
            <a:ext cx="981456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7E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中斷風險。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1022" y="4579506"/>
            <a:ext cx="2278843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49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啟動地端 PBS+S3混合雲備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573691" y="4495688"/>
            <a:ext cx="2453356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(Re-platform/Re-architect)。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6262" y="4830959"/>
            <a:ext cx="1836295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份(落實方案二架構)。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657509" y="4899538"/>
            <a:ext cx="1930759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8A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消除上雲技術債與资安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15320" y="5600560"/>
            <a:ext cx="1759076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89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立即確保資料安全與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1518" y="5874873"/>
            <a:ext cx="803719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2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備能力。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25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2026-04-29T15:11:13Z</dcterms:created>
  <dcterms:modified xsi:type="dcterms:W3CDTF">2026-04-29T15:11:13Z</dcterms:modified>
</cp:coreProperties>
</file>