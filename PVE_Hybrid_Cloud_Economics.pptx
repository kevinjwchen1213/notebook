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04667"/>
  <p:notesSz cx="6804667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0466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88978" y="614665"/>
            <a:ext cx="1817501" cy="268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949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Dashboard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4241694" y="1849074"/>
            <a:ext cx="3253689" cy="706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100" b="1" dirty="0">
                <a:solidFill>
                  <a:srgbClr val="062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混合雲架構與</a:t>
            </a:r>
            <a:endParaRPr lang="en-US" sz="4100" dirty="0"/>
          </a:p>
        </p:txBody>
      </p:sp>
      <p:sp>
        <p:nvSpPr>
          <p:cNvPr id="5" name="Text 2"/>
          <p:cNvSpPr/>
          <p:nvPr/>
        </p:nvSpPr>
        <p:spPr>
          <a:xfrm>
            <a:off x="899138" y="2621214"/>
            <a:ext cx="6270730" cy="671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100" b="1" dirty="0">
                <a:solidFill>
                  <a:srgbClr val="062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10年 TCO 經濟學決策藍圖</a:t>
            </a:r>
            <a:endParaRPr lang="en-US" sz="4100" dirty="0"/>
          </a:p>
        </p:txBody>
      </p:sp>
      <p:sp>
        <p:nvSpPr>
          <p:cNvPr id="6" name="Text 3"/>
          <p:cNvSpPr/>
          <p:nvPr/>
        </p:nvSpPr>
        <p:spPr>
          <a:xfrm>
            <a:off x="883898" y="3515272"/>
            <a:ext cx="6387972" cy="508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52B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告別高昂授權，打造高效能、輕量化的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888978" y="4089298"/>
            <a:ext cx="2360940" cy="479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62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雲地整合策略</a:t>
            </a:r>
            <a:endParaRPr lang="en-US" sz="2900" dirty="0"/>
          </a:p>
        </p:txBody>
      </p:sp>
      <p:sp>
        <p:nvSpPr>
          <p:cNvPr id="8" name="Text 5"/>
          <p:cNvSpPr/>
          <p:nvPr/>
        </p:nvSpPr>
        <p:spPr>
          <a:xfrm>
            <a:off x="8645944" y="5791055"/>
            <a:ext cx="2709342" cy="344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D1F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预期 TCO 節省率達84%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1333193" y="6563196"/>
            <a:ext cx="858502" cy="198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364D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Notebook LM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0466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2268" y="360671"/>
            <a:ext cx="2822391" cy="408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dashboard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1864313" y="3215560"/>
            <a:ext cx="2094693" cy="397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858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舊有架構的包袱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792525" y="3220639"/>
            <a:ext cx="2374061" cy="379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CA1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次世代輕量化核心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173451" y="4018180"/>
            <a:ext cx="3166149" cy="426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62台v SANReady Node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939107" y="3941981"/>
            <a:ext cx="3614377" cy="414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25E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3-Node PVE+Ceph HA叢集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178531" y="4434729"/>
            <a:ext cx="3207030" cy="397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VMware VCF訂閱費暴增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183675" y="4358531"/>
            <a:ext cx="1656350" cy="426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2B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乘載40 VMs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167701" y="4780160"/>
            <a:ext cx="4975786" cy="321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2528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(L12 vCPU, 128 GB RAM, 3 TB Storage)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1523962" y="5760576"/>
            <a:ext cx="7954096" cy="403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899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核心完成輕量化，下一步：如何選擇最佳的混合雲延伸路徑？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11201117" y="6613995"/>
            <a:ext cx="990579" cy="140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5055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Notebook LM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0466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45879" y="518147"/>
            <a:ext cx="4684184" cy="572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461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與 AWS 混合雲整合架構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1127732" y="2865048"/>
            <a:ext cx="1937433" cy="391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661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On-Premises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5013835" y="2890448"/>
            <a:ext cx="1737371" cy="36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460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9296168" y="2854889"/>
            <a:ext cx="959653" cy="403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460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1574761" y="3296838"/>
            <a:ext cx="1306474" cy="455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61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地端核心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5338947" y="3296838"/>
            <a:ext cx="1304430" cy="455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D61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混合通道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9098053" y="3296838"/>
            <a:ext cx="1305014" cy="455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D61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雲端延伸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1153131" y="3936902"/>
            <a:ext cx="2055352" cy="257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46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3-Node PVE Cluster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907157" y="3936902"/>
            <a:ext cx="2433713" cy="280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26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Site-to-Site VPN / Direct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651024" y="3916582"/>
            <a:ext cx="2456884" cy="303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46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AWSS3/Glacier 作為無限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148051" y="4201055"/>
            <a:ext cx="1718254" cy="327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26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Ceph 分散式存儲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902077" y="4221374"/>
            <a:ext cx="2157730" cy="280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F5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/ HTTPS TLS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656104" y="4201055"/>
            <a:ext cx="1152798" cy="303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76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容量冷儲存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148051" y="4531247"/>
            <a:ext cx="2278068" cy="303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969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本地數據處理100%掌握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676423" y="4531247"/>
            <a:ext cx="2184416" cy="332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463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EC2作為災難復原(DR)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173451" y="4861438"/>
            <a:ext cx="2195626" cy="327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2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HCI 內建高可用性(HA)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902077" y="4815720"/>
            <a:ext cx="2368759" cy="297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717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加密傳輸與地端雲端的無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651024" y="4815720"/>
            <a:ext cx="949020" cy="309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747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爆破節點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148051" y="5150991"/>
            <a:ext cx="1156455" cy="292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707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與極低延遲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290288" y="6075528"/>
            <a:ext cx="9199207" cy="332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9FE8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技術關鍵：Prox mox Backup Server(PBS）異地同步技術- 每日增量去重壓缩，零痛點直連 AWSS3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1201117" y="6613995"/>
            <a:ext cx="990579" cy="140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57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Notebookl M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0466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36869" y="370831"/>
            <a:ext cx="8967808" cy="560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40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路徑一：重型混合雲(PVE+AWSOutposts 架構剖析)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3246039" y="1234409"/>
            <a:ext cx="1321813" cy="303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A0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公有雲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9413005" y="1305527"/>
            <a:ext cx="998779" cy="321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特點總結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2306262" y="1874473"/>
            <a:ext cx="952748" cy="227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91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Glacier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770001" y="1874473"/>
            <a:ext cx="1141915" cy="227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1C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IAM Console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306262" y="2103067"/>
            <a:ext cx="1133181" cy="239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B3C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長期存檔備份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744601" y="2103067"/>
            <a:ext cx="796112" cy="239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34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權限管理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64091" y="2463738"/>
            <a:ext cx="1853612" cy="344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極低延遲(&lt;1 ms)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2631374" y="3200320"/>
            <a:ext cx="2312869" cy="33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9F27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混合層-Outposs Rack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9164091" y="3306997"/>
            <a:ext cx="1429373" cy="321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資料不出機房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7142301" y="3581310"/>
            <a:ext cx="1042645" cy="327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F99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機房内的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9199650" y="3616870"/>
            <a:ext cx="975323" cy="315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(高合规)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5176391" y="3820064"/>
            <a:ext cx="1704134" cy="262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19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on Outposts a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381055" y="3840384"/>
            <a:ext cx="902399" cy="321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BC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實體機櫃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823674" y="4033419"/>
            <a:ext cx="791985" cy="25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B46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計算實例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3489873" y="4033419"/>
            <a:ext cx="795287" cy="25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E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本地儲存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171311" y="4013100"/>
            <a:ext cx="1125423" cy="274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C3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本地物件存儲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9164091" y="4307732"/>
            <a:ext cx="1504417" cy="315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1B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進入門檻極高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9199650" y="4607445"/>
            <a:ext cx="2275771" cy="303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(需預留機櫃空間與電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9169171" y="4881758"/>
            <a:ext cx="1942049" cy="315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力，3年合約綁定)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3413675" y="5125592"/>
            <a:ext cx="942722" cy="303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16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地端機房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915847" y="5770736"/>
            <a:ext cx="1737224" cy="25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1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3-Node PVE + PBS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1201117" y="6613995"/>
            <a:ext cx="990579" cy="140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57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Notebookl M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0466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9265" y="452109"/>
            <a:ext cx="3730323" cy="496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405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路徑二：輕型混合雲(PVE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5084953" y="447029"/>
            <a:ext cx="3866172" cy="531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405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E+PBS+AWSS3推薦架構)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2580575" y="1864313"/>
            <a:ext cx="1317082" cy="25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50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Standard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378851" y="1793195"/>
            <a:ext cx="1567967" cy="286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cycle Rule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15880" y="1864313"/>
            <a:ext cx="1140997" cy="25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50B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Glacier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575561" y="1716997"/>
            <a:ext cx="1302969" cy="397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特點總結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2738052" y="2128467"/>
            <a:ext cx="904893" cy="303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70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(近90天)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673483" y="2199585"/>
            <a:ext cx="972181" cy="274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自動轉存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61598" y="2128467"/>
            <a:ext cx="1085245" cy="292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(長期歸檔)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413005" y="2570416"/>
            <a:ext cx="1354950" cy="297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1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零地端雲設備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9418085" y="2900607"/>
            <a:ext cx="1626993" cy="332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1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(無需 Outposts)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433324" y="3530512"/>
            <a:ext cx="1833967" cy="297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PBS 自動去重壓縮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26422" y="3870863"/>
            <a:ext cx="946379" cy="327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硬賀機存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943451" y="3738787"/>
            <a:ext cx="1523326" cy="327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29F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HTTPS / TLS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9418085" y="3865783"/>
            <a:ext cx="1085245" cy="321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1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(傳輸極省)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552301" y="4089298"/>
            <a:ext cx="612244" cy="315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9C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ort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710512" y="4058819"/>
            <a:ext cx="950442" cy="327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BA7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輕量直連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9402845" y="4825879"/>
            <a:ext cx="1567123" cy="327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BFC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核心角色：PBS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9402845" y="5156071"/>
            <a:ext cx="1484571" cy="327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0F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扮演地雲橋樑，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21342" y="5613260"/>
            <a:ext cx="992951" cy="356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8F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地端機房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9291088" y="5491343"/>
            <a:ext cx="1864067" cy="321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6F7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完美取代昂貴硬體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4008020" y="5648819"/>
            <a:ext cx="2092911" cy="262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3-Node PVE + PBS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1201117" y="6613995"/>
            <a:ext cx="990579" cy="140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57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Notebookl M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0466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189" y="375911"/>
            <a:ext cx="5728522" cy="496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405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5年 TCO 總體持有成本對比分析(NTD)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1656039" y="1356326"/>
            <a:ext cx="1273539" cy="315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D0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純地端 PVE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5379586" y="1356326"/>
            <a:ext cx="1426338" cy="315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混合雲S3 DR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8854219" y="1356326"/>
            <a:ext cx="2068321" cy="33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全雲/Outposts 混合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112492" y="1818595"/>
            <a:ext cx="1935371" cy="572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40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NT$750萬</a:t>
            </a:r>
            <a:endParaRPr lang="en-US" sz="3100" dirty="0"/>
          </a:p>
        </p:txBody>
      </p:sp>
      <p:sp>
        <p:nvSpPr>
          <p:cNvPr id="8" name="Text 5"/>
          <p:cNvSpPr/>
          <p:nvPr/>
        </p:nvSpPr>
        <p:spPr>
          <a:xfrm>
            <a:off x="4942716" y="1803355"/>
            <a:ext cx="6522560" cy="613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30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NT$766萬 NT$4,852萬</a:t>
            </a:r>
            <a:endParaRPr lang="en-US" sz="3100" dirty="0"/>
          </a:p>
        </p:txBody>
      </p:sp>
      <p:sp>
        <p:nvSpPr>
          <p:cNvPr id="9" name="Text 6"/>
          <p:cNvSpPr/>
          <p:nvPr/>
        </p:nvSpPr>
        <p:spPr>
          <a:xfrm>
            <a:off x="5257669" y="2489138"/>
            <a:ext cx="1720302" cy="274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D7C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推薦/高保除性·低負擔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595880" y="2489138"/>
            <a:ext cx="962336" cy="257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05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極高昂代價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14377" y="2910767"/>
            <a:ext cx="2611617" cy="274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747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高Cap Ex投資(硬體)，極低 OpEx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714122" y="2910767"/>
            <a:ext cx="2625922" cy="280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完美平衡，以極低 OpEx(~$85/月)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544346" y="2910767"/>
            <a:ext cx="2754508" cy="268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54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龐大的 OpEx 負擔，包含高額 Rack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117572" y="3119042"/>
            <a:ext cx="2273857" cy="303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(僅需社群/基礎訂閱費與電費)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044314" y="3119042"/>
            <a:ext cx="2090163" cy="280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換取 AWS 企業級異地備援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747541" y="3149521"/>
            <a:ext cx="2280240" cy="245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646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租賃費與強制的企業支援月費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33387" y="3713387"/>
            <a:ext cx="623496" cy="221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45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5,000萬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0672813" y="3748946"/>
            <a:ext cx="619882" cy="233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567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4,852萬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33387" y="4104537"/>
            <a:ext cx="619882" cy="233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A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4,000萬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33387" y="4495688"/>
            <a:ext cx="622541" cy="233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756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3,000萬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43546" y="4891918"/>
            <a:ext cx="628337" cy="227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1,600萬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65463" y="5283068"/>
            <a:ext cx="506769" cy="221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D5C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750萬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0677893" y="5267828"/>
            <a:ext cx="506769" cy="216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6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766萬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0677893" y="5471023"/>
            <a:ext cx="506769" cy="216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29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750萬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51821" y="6339682"/>
            <a:ext cx="9229956" cy="368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EFE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決策真相：採用 S3輕量方案，5年可為企業省下高達 NT$4，086萬（節省約84%）的無謂支出。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11063960" y="6558116"/>
            <a:ext cx="1127735" cy="246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A2E2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Notebook LM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0466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9106" y="411470"/>
            <a:ext cx="9063323" cy="525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成本陷阱拆解：Outposts 的 NT$4,102萬溢價來自哪裡？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7889043" y="1330927"/>
            <a:ext cx="2952562" cy="297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16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實際使用的 AWS 服務與傳輸費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2534857" y="1564601"/>
            <a:ext cx="731505" cy="257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4.1%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894123" y="1605240"/>
            <a:ext cx="1503646" cy="327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(NT$166萬)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952141" y="2128467"/>
            <a:ext cx="1989481" cy="315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69F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Support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883963" y="2184345"/>
            <a:ext cx="2165794" cy="297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15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強制綁定！無法取消的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402780" y="2377381"/>
            <a:ext cx="708769" cy="25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25.7%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444889" y="2382460"/>
            <a:ext cx="1143858" cy="33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ECA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企業支援费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899203" y="2458659"/>
            <a:ext cx="1499606" cy="297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1A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隱性天價保費。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241694" y="2672013"/>
            <a:ext cx="1367974" cy="344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CE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(NT$1,056萬)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150256" y="4419490"/>
            <a:ext cx="1700884" cy="33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DF7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Rack 機架租賃費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914442" y="4363611"/>
            <a:ext cx="2574568" cy="292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15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無論利用率高低，固定月費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402780" y="4536327"/>
            <a:ext cx="712340" cy="257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70.2%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236614" y="4703962"/>
            <a:ext cx="1367974" cy="344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FF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(NT$2,880萬)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904282" y="4637924"/>
            <a:ext cx="2061841" cy="321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照繳，無 Spot 折扣。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1201117" y="6613995"/>
            <a:ext cx="990579" cy="140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57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Notebookl M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0466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9425" y="518147"/>
            <a:ext cx="6412722" cy="479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70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軟體授權與支援對比：奪回基礎架構主導權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1762716" y="1777956"/>
            <a:ext cx="3297153" cy="356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70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Old Way (VMware / AWS)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7436934" y="1783035"/>
            <a:ext cx="1590802" cy="368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307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PVE Way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153131" y="2712652"/>
            <a:ext cx="1054532" cy="327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62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強制綁定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913707" y="2712652"/>
            <a:ext cx="3831745" cy="327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2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 CPUSocket 計費（3-Node 僅需6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913707" y="3083483"/>
            <a:ext cx="1033492" cy="332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217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Sockets)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153131" y="3256199"/>
            <a:ext cx="2056522" cy="321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 Core/RAM 計費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913707" y="3627029"/>
            <a:ext cx="2991906" cy="33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20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提供穩定 Enterprise 套件庫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142971" y="3794665"/>
            <a:ext cx="3869107" cy="321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C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佔整體 TCO 比例極高(常達50%以上)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913707" y="4165496"/>
            <a:ext cx="2752321" cy="327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81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訂閱費僅佔 TCO 的10-20%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463068" y="5196710"/>
            <a:ext cx="2980819" cy="309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8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級別(NT$3.3萬/年)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483388" y="5516742"/>
            <a:ext cx="2713629" cy="280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即可滿足70%台灣企業需求。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1201117" y="6613995"/>
            <a:ext cx="990579" cy="140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57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Notebookl M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0466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7668" y="360671"/>
            <a:ext cx="4917604" cy="519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混合雲三大路徑綜合評估矩陣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3926742" y="1854154"/>
            <a:ext cx="1340740" cy="332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純地端 PVE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019650" y="1884633"/>
            <a:ext cx="2646617" cy="321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PVE + AWS Outposts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9092973" y="1884633"/>
            <a:ext cx="1965914" cy="274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PVE + PBS + S3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463003" y="2631374"/>
            <a:ext cx="1039951" cy="327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5年 TCO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3957221" y="2778691"/>
            <a:ext cx="1181367" cy="327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626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NT$750萬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558116" y="2778691"/>
            <a:ext cx="1372016" cy="327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72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NT$4,852萬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397765" y="2778691"/>
            <a:ext cx="1054231" cy="327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NT$76萬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640799" y="2936167"/>
            <a:ext cx="746723" cy="35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(財務)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178531" y="3566071"/>
            <a:ext cx="1590564" cy="321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809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RTO 復原時間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9626359" y="3581310"/>
            <a:ext cx="744156" cy="280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2-4 hr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043579" y="3713387"/>
            <a:ext cx="1050874" cy="327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依賴本地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959426" y="3733707"/>
            <a:ext cx="589691" cy="280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232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&lt;1 hr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615400" y="3865783"/>
            <a:ext cx="746723" cy="356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(營運)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9275848" y="3865783"/>
            <a:ext cx="1216629" cy="35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232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(完全可接受)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315687" y="4485528"/>
            <a:ext cx="1345672" cy="332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管理複雜度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6476838" y="4648084"/>
            <a:ext cx="1499181" cy="344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3434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極高(雙平台)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9235209" y="4648084"/>
            <a:ext cx="1499181" cy="35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低(單一介面)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1463003" y="4795400"/>
            <a:ext cx="1013386" cy="36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(IT 負擔)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183610" y="5425304"/>
            <a:ext cx="1509446" cy="327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909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地端設備依賴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6578436" y="5577701"/>
            <a:ext cx="1288363" cy="35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53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極高(Rack)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9103132" y="5577701"/>
            <a:ext cx="1738274" cy="332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1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零雲端硬體依賴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615400" y="5730097"/>
            <a:ext cx="746723" cy="356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(硬體)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11201117" y="6613995"/>
            <a:ext cx="990579" cy="140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57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Notebookl M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0466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3067" y="238754"/>
            <a:ext cx="6227181" cy="525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雲端經濟學實踐藍圖(1-5年落地路線圖)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376711" y="1066773"/>
            <a:ext cx="1569183" cy="344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Phase3(3-5年)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8356391" y="1452844"/>
            <a:ext cx="2074292" cy="315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C1C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針對性極限邊緣運算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8615465" y="2077668"/>
            <a:ext cx="2433886" cy="286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747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僅在遇到嚴格法規(醫療/金融)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620544" y="2351981"/>
            <a:ext cx="2604547" cy="262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5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或需&lt;5 ms延遲時，才評估引進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620544" y="2621214"/>
            <a:ext cx="3036332" cy="286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Outposts1 U/2 UServer(非 Rack)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66806" y="2768531"/>
            <a:ext cx="2011633" cy="36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709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Phase2(1-2年)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546486" y="3149521"/>
            <a:ext cx="1556696" cy="321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18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觀測與彈性擴容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763516" y="3129202"/>
            <a:ext cx="1957953" cy="332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9E9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精準投資，拒絕無謂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763516" y="3398435"/>
            <a:ext cx="1362061" cy="327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的重型機櫃定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841119" y="3820064"/>
            <a:ext cx="1814510" cy="262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14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觀測40 VMs成長速度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67061" y="4195975"/>
            <a:ext cx="2001473" cy="356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50B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Phase1(0-1年)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815720" y="4114697"/>
            <a:ext cx="2800718" cy="262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若遇突發高負載，評估採用純雲端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810640" y="4389010"/>
            <a:ext cx="2745272" cy="280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24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AWSEC2(Reserved Instance)作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51821" y="4576966"/>
            <a:ext cx="1919145" cy="321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15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鞏固核心與低成本備援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815720" y="4653164"/>
            <a:ext cx="2625469" cy="274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84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為爆破節點，避免本地過度採購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056614" y="5161151"/>
            <a:ext cx="2405957" cy="280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部署3-Node PVE+Ceph完成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21054" y="5425304"/>
            <a:ext cx="1284278" cy="274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A3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VMware 移轉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4490608" y="5567541"/>
            <a:ext cx="2229915" cy="315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0F1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極低風險，立即享受84%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046454" y="5719937"/>
            <a:ext cx="2929221" cy="262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啟用 PBS 建立 HTTPS→AWSS3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4485528" y="5826614"/>
            <a:ext cx="899731" cy="332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2F2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成本優勢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026134" y="5994250"/>
            <a:ext cx="842063" cy="262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B3C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備份機制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1201117" y="6613995"/>
            <a:ext cx="990579" cy="140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57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Notebookl M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0466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2748" y="350511"/>
            <a:ext cx="7620401" cy="549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506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總結與決策清單：以輕量化贏得混合雲戰役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1508722" y="1422364"/>
            <a:ext cx="8700994" cy="467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408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盲目追求 Outposts 等同於重演 VMware 的高昂訂閱夢魔；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523962" y="1940511"/>
            <a:ext cx="7260192" cy="43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408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PBS+S3才是兼具資料自主與經濟效益的最佳解。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2481617" y="3190160"/>
            <a:ext cx="7228460" cy="408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批准40 VMs地端PVEPo C測試(確認本地效能與 HA 移轉)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671278" y="3896263"/>
            <a:ext cx="8440658" cy="438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707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開通 AWSS3帳戶並設定Lifecycle Rule(建立&lt;$85/月的異地備份池)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661118" y="4607445"/>
            <a:ext cx="9430209" cy="43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909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擱置Outposts Rack採購案(避免陷入3年期、高達四千萬的非必要支出陷阱)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1201117" y="6613995"/>
            <a:ext cx="990579" cy="140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57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Notebookl M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2026-04-20T22:23:18Z</dcterms:created>
  <dcterms:modified xsi:type="dcterms:W3CDTF">2026-04-20T22:23:18Z</dcterms:modified>
</cp:coreProperties>
</file>