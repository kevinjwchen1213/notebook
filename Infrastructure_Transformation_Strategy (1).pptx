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04667"/>
  <p:notesSz cx="6804667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8138" y="1470623"/>
            <a:ext cx="3575418" cy="446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EEC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精煉决策版|排除高成本 Outposts 方案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683993" y="2194505"/>
            <a:ext cx="6823710" cy="823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36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企業基礎架構轉型戰略與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059501" y="3009825"/>
            <a:ext cx="4072694" cy="823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36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五年 TCO 决策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2922270" y="3939442"/>
            <a:ext cx="6347155" cy="429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86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40 VMs移轉路徑：純地端、混合雲與純雲端端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381390" y="4358531"/>
            <a:ext cx="3194685" cy="429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76A6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之財務與架構深度剖析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069378" y="5150991"/>
            <a:ext cx="2175223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63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基礎架構轉型專案團隊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55464" y="5150991"/>
            <a:ext cx="1832502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5F6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2026戰略佈局評估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F5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07" y="487668"/>
            <a:ext cx="6092377" cy="473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執行摘要：三條轉型路徑的五年財務底線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70543" y="1249649"/>
            <a:ext cx="10307419" cy="27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3F4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面對 VMware 授權成本暴增(VCF 訂關制)，我們針對現有40 VMs基礎架構進行了5年 TCO 深度評估，得出以下三條最佳轉型路徑：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34489" y="1988770"/>
            <a:ext cx="2567744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4343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架構三：純雲端AWS3 yrRI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29234" y="2011630"/>
            <a:ext cx="4653114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313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財務成本最低。完全消除硬體Cap Ex與機房維運負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44474" y="2308802"/>
            <a:ext cx="4846202" cy="30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A3A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擔，但需克服Legacy OS(舊版作業系統)上雲的技術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064968" y="2324042"/>
            <a:ext cx="3634653" cy="622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3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NT$825萬 -16%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034489" y="3558451"/>
            <a:ext cx="2978038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架構二：混合雲 PVE+PBS+AWSS3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44474" y="3588930"/>
            <a:ext cx="3966151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1303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最佳風險回報率。僅需增加極小成本(NT$40萬)，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6375" y="3886103"/>
            <a:ext cx="4861442" cy="289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3E3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即可為地端架構換取 AWSS3異地備援與零勒索軟體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2064968" y="3931822"/>
            <a:ext cx="3047927" cy="61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203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NT$1,018萬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2034489" y="5135752"/>
            <a:ext cx="2809003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架構一：純地端 PVE+Ceph+PBS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06375" y="5158611"/>
            <a:ext cx="4115209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掌控度最高。將高昂的 VMware 授權費轉換為開源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29234" y="5463403"/>
            <a:ext cx="4838582" cy="289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9393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PVE 方案，但需承擔 NT$400萬的初期硬體資本支出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2064968" y="5509122"/>
            <a:ext cx="4000403" cy="587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646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NT$978萬 Baseline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6644474" y="5752956"/>
            <a:ext cx="2225457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393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(Cap Ex)與後續維運人力。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F5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0527" y="487668"/>
            <a:ext cx="3771899" cy="481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專案範疇與工作負載盤點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764586" y="2042109"/>
            <a:ext cx="3764189" cy="429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40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vCPU/196 GBRAM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795065" y="2537397"/>
            <a:ext cx="1737360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131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總運算資源需求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026869" y="2590735"/>
            <a:ext cx="2645063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 (VMs)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049729" y="3931822"/>
            <a:ext cx="3002208" cy="73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101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5.66 TB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764586" y="4701422"/>
            <a:ext cx="3112792" cy="37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0C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運行Legacy OS(舊版系統)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034489" y="4701422"/>
            <a:ext cx="3651280" cy="37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00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實際儲存空間需求(含3 TB備份)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64586" y="5524362"/>
            <a:ext cx="2924488" cy="23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7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 Win2000/XP/2003，RHEL4/6等已終止支摄系统。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0" y="6347301"/>
            <a:ext cx="12191695" cy="420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0D2D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評估基準：排除不具經濟效益的 AWSOutposts 架構(預估 TCO 高達 NT$5,080)，專注於最具財務合理性的三項方案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288" y="480048"/>
            <a:ext cx="11638786" cy="68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18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架構一：純地端PVE+Ceph+PBS 5年 TCO：NT$978萬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02907" y="1074393"/>
            <a:ext cx="6271260" cy="39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161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完全掌握硬體與資料主權，穩定且低延遲的基礎架構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306997" y="2255464"/>
            <a:ext cx="1865966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DA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雲端層(Cloud Layer)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869458" y="2834569"/>
            <a:ext cx="1280160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4D4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資料絕對主權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69458" y="3162221"/>
            <a:ext cx="2355342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4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本地網路極低延遅(&lt;1 ms)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53659" y="3299378"/>
            <a:ext cx="1952882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中轉層(Transit Layer)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869458" y="3497493"/>
            <a:ext cx="2042160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B4B4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無雲端持續訂閱流量費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146981" y="4221374"/>
            <a:ext cx="2204550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地端機房(On-Premises)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869458" y="4891918"/>
            <a:ext cx="2415730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535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需投入 NT$400萬初期硬體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983755" y="5166231"/>
            <a:ext cx="1294094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E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採購(Cap Ex)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869458" y="5493883"/>
            <a:ext cx="1619630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43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需配置機房維運人力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607780" y="5539602"/>
            <a:ext cx="2527987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93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3-Node PVE(Prox mox VE)叢集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80608" y="5531982"/>
            <a:ext cx="774390" cy="34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1台 PBS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49106" y="5699618"/>
            <a:ext cx="2074860" cy="4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(Prox mox Backup Server)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869458" y="5821534"/>
            <a:ext cx="2205622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3D3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5-6年後需面臨硬體汰換週期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645879" y="5829154"/>
            <a:ext cx="2392680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 HCI分散式储存(40 VMs)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04410" y="5920592"/>
            <a:ext cx="803814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535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本地備份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D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288" y="480048"/>
            <a:ext cx="11180467" cy="630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06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架構二：PVE+PBS+AWSS3混合雲 5年TCO: NT$1，018萬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8838979" y="967716"/>
            <a:ext cx="2136382" cy="46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EF8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(僅比純地端多4%)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95288" y="1066773"/>
            <a:ext cx="6175244" cy="41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131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以極小代價無縫接軌公有雲，打造零勒索風險的異地備援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687988" y="1874473"/>
            <a:ext cx="1380924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080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公有雲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34889" y="2270703"/>
            <a:ext cx="1394918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0C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Glacier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996390" y="2324042"/>
            <a:ext cx="2863021" cy="41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51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 Standard ifeyle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034889" y="2529777"/>
            <a:ext cx="1916255" cy="39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(Lifecycle Rule)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869458" y="2590735"/>
            <a:ext cx="1581626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B3B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實現異地災備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2034489" y="2705032"/>
            <a:ext cx="2167058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4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短期備份/快速存取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027269" y="2765991"/>
            <a:ext cx="1453337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4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長期封存/低成本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029474" y="2804090"/>
            <a:ext cx="1201627" cy="3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(3-2-1份原則)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869458" y="3169841"/>
            <a:ext cx="1362551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535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建置極度簡便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69458" y="3482253"/>
            <a:ext cx="2438154" cy="37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4343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無需添購昂貴的 Outposs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695080" y="3558451"/>
            <a:ext cx="6801535" cy="639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13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中轉層(Transit Layer) HTTPS/L443無需 Outposts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991375" y="3680368"/>
            <a:ext cx="1257272" cy="385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313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設備或專線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146981" y="4488068"/>
            <a:ext cx="2614218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地端機房(On-Premises)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869458" y="5036694"/>
            <a:ext cx="2263710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535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仍未擺脫地端硬體生命週期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83755" y="5234809"/>
            <a:ext cx="1029081" cy="37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40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與維護負擔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080608" y="5600560"/>
            <a:ext cx="874008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1台 PBS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869458" y="5615800"/>
            <a:ext cx="2241979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4343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RTO (復原時間目標)較長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600160" y="5661518"/>
            <a:ext cx="2899968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5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3-Node PVE(Prox mox VE)叢集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341486" y="5775816"/>
            <a:ext cx="2374121" cy="4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(Prox mox Backup Server)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998995" y="5829154"/>
            <a:ext cx="1471117" cy="3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(需從雲端下載還原)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645879" y="5951071"/>
            <a:ext cx="2218075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9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 HCI分散式储存(40 VMs)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81550" y="5989170"/>
            <a:ext cx="1203960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D3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本地備份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D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07" y="457189"/>
            <a:ext cx="5445278" cy="534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4040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架構三：純雲端AWS3 yrRI(台北區域)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8762781" y="502907"/>
            <a:ext cx="3150739" cy="46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DCF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 TCO：NT$825萬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9090433" y="853419"/>
            <a:ext cx="2037462" cy="473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0FCF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(比純地端省16%)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02907" y="998195"/>
            <a:ext cx="5451440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5262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消除硬體資產包袱，實現最具財務效率的敏捷營運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488068" y="1866853"/>
            <a:ext cx="1325850" cy="40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6B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09985" y="2064968"/>
            <a:ext cx="1082016" cy="37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CC5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taces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93803" y="2240224"/>
            <a:ext cx="815320" cy="41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69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(55%)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854219" y="2385000"/>
            <a:ext cx="2640614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6744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財務成本最低(省16%)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16262" y="2720272"/>
            <a:ext cx="1240471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90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公有雲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854219" y="2735512"/>
            <a:ext cx="2430160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3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將Cap Ex完全轉為 OpEx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82573" y="2933627"/>
            <a:ext cx="824525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EBSgp3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61981" y="3017445"/>
            <a:ext cx="1734837" cy="27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(AWS Cloud Layer)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854219" y="3078403"/>
            <a:ext cx="1552765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釋放地端維運人力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854219" y="3421294"/>
            <a:ext cx="2095499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隨需彈性擴充無硬體上限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04170" y="3505112"/>
            <a:ext cx="1176659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VM群组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9378" y="3680368"/>
            <a:ext cx="1419647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(40 VMs按負载分群)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60656" y="3756566"/>
            <a:ext cx="861115" cy="37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Backup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846599" y="4678563"/>
            <a:ext cx="2372834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42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逻移初期需投入一次性工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840384" y="4777621"/>
            <a:ext cx="2863492" cy="34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2F3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一次性遷移與重構(Migration)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1502" y="4884298"/>
            <a:ext cx="1206399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4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(Transit Layer)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976136" y="4952876"/>
            <a:ext cx="1114901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543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程與測試費用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846599" y="5303387"/>
            <a:ext cx="2042160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3444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必須解決舊版作業系統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014235" y="5577701"/>
            <a:ext cx="2196167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C38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(Legacy OS)的相容性與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69601" y="5684378"/>
            <a:ext cx="899160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5959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地端機房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3657509" y="5813915"/>
            <a:ext cx="2987665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C9C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地端設施退役(Decommissioned)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976136" y="5798675"/>
            <a:ext cx="1280160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8464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資安防護問題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31502" y="5981550"/>
            <a:ext cx="1290495" cy="254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89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(On-Premises)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1254459" y="6606375"/>
            <a:ext cx="830078" cy="15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15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965" y="335272"/>
            <a:ext cx="5820326" cy="50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21D2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財務透視：五年 TCO 成本結構解構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822939" y="1074393"/>
            <a:ext cx="4023195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92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純雲端架構藉由完全消除「資本支出(Cap Ex)」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32924" y="1074393"/>
            <a:ext cx="3718560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3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「地端人力」，實現了總體成本的最優化。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17685" y="1851614"/>
            <a:ext cx="1452393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494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Cap Ex硬體/移费用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84538" y="1851614"/>
            <a:ext cx="746760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46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軟體訂閱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52254" y="1859234"/>
            <a:ext cx="746760" cy="23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67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人力維護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212350" y="1859234"/>
            <a:ext cx="815264" cy="254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705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维修/電力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233404" y="1859234"/>
            <a:ext cx="737235" cy="23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4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雲端費用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76358" y="2217365"/>
            <a:ext cx="569301" cy="201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859634" y="2232604"/>
            <a:ext cx="1410273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9A57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雲端費用(40萬)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116502" y="2514537"/>
            <a:ext cx="942873" cy="4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BCE7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維修/力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072988" y="2575496"/>
            <a:ext cx="1182935" cy="41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DE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維修/電力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770401" y="2887908"/>
            <a:ext cx="1569684" cy="411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4303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遷移費用(112萬)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6111087" y="3306997"/>
            <a:ext cx="956214" cy="41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6D6E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人力維護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200320" y="3489873"/>
            <a:ext cx="711755" cy="429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CDD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210萬)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857429" y="3916582"/>
            <a:ext cx="1893436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DBC5E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軟體訂閱(106萬)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813915" y="3931822"/>
            <a:ext cx="1893436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DCC5E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軟體訂閱(106萬)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059953" y="4122317"/>
            <a:ext cx="1089564" cy="4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CF8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雲端費用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3055544" y="4640464"/>
            <a:ext cx="1315906" cy="4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A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EEx硬體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012030" y="4648084"/>
            <a:ext cx="1087950" cy="41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FA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Ex硬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156806" y="4861438"/>
            <a:ext cx="899141" cy="411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F9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00萬)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5943451" y="5653899"/>
            <a:ext cx="1402797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混合囊 PBS+S3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021854" y="5653899"/>
            <a:ext cx="1103644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4C4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纯雲端 AWS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124122" y="5783435"/>
            <a:ext cx="1063552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05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(NT$978萬)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021854" y="5791055"/>
            <a:ext cx="820965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4444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825万)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15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64" y="502907"/>
            <a:ext cx="9551223" cy="69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03030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關鍵變數與上雲阻力：Legacy OS的挑戰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453979" y="1722077"/>
            <a:ext cx="2004060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6060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營運面衝擊分析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505512" y="2461198"/>
            <a:ext cx="2133550" cy="29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無法直接 Lift&amp;Shift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505512" y="2765991"/>
            <a:ext cx="3181277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58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等現代公有雲無法直接原生支援過時系統(如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13132" y="2910767"/>
            <a:ext cx="1485866" cy="34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Win2000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95368" y="3345096"/>
            <a:ext cx="4145180" cy="762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7609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[40 VMs</a:t>
            </a:r>
            <a:endParaRPr lang="en-US" sz="4100" dirty="0"/>
          </a:p>
        </p:txBody>
      </p:sp>
      <p:sp>
        <p:nvSpPr>
          <p:cNvPr id="9" name="Text 6"/>
          <p:cNvSpPr/>
          <p:nvPr/>
        </p:nvSpPr>
        <p:spPr>
          <a:xfrm>
            <a:off x="7513132" y="3741326"/>
            <a:ext cx="1794223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高昂的授權與安全成本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05512" y="4053739"/>
            <a:ext cx="3894242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3535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Win2003/2008若上雲，必須採購昂貴的 Extended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39202" y="4122317"/>
            <a:ext cx="3687991" cy="35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1B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目前運行已終止支援的舊版系統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13132" y="4198515"/>
            <a:ext cx="3498512" cy="34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4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Update (ESU)，否則面極大資風險。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645879" y="4785240"/>
            <a:ext cx="2697416" cy="29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2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–Wind000, P, 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05512" y="5021454"/>
            <a:ext cx="851344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038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戰略結論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623019" y="5135752"/>
            <a:ext cx="2739791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6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Server 2003, 2008 R2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535992" y="5326247"/>
            <a:ext cx="3442335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5B5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雖然「純雲端」在數學上最便宜，但在營運面上，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13132" y="5478643"/>
            <a:ext cx="3101266" cy="39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未經應程式化(eplatform/Re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615400" y="5509122"/>
            <a:ext cx="1113042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- RHEL 4/6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05512" y="5691998"/>
            <a:ext cx="2224988" cy="32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5D5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architect)，將是一場災難。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54459" y="6606375"/>
            <a:ext cx="830078" cy="15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F5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86056" y="693403"/>
            <a:ext cx="5819582" cy="543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070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綜合決策矩陣：跨維度戰略評估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992780" y="2133547"/>
            <a:ext cx="1114907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7A8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纯地端 PVE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640" y="2133547"/>
            <a:ext cx="1496370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8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混合雲 PBS+S3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250449" y="2133547"/>
            <a:ext cx="1161120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76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純雲端 AWS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090433" y="2865048"/>
            <a:ext cx="1579937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353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(NT$825萬-最優)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038499" y="2872668"/>
            <a:ext cx="1135499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84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(NT$978萬)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65831" y="2872668"/>
            <a:ext cx="1759397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成本效益(5年 TCO)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8260" y="2872668"/>
            <a:ext cx="1551548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28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！(NT$1,018萬)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901342" y="3596550"/>
            <a:ext cx="1325048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48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×(單點風險)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235209" y="3596550"/>
            <a:ext cx="1509166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35C4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(雲端高可用性)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64426" y="3604170"/>
            <a:ext cx="2321839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554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(異地備份，零勒索風險)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35352" y="3611790"/>
            <a:ext cx="1986432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4343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災備與資料韌性(DR)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037094" y="4328052"/>
            <a:ext cx="1915502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85E4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(零硬體，釋放人力)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73451" y="4343291"/>
            <a:ext cx="1962530" cy="28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637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維運負擔與硬體折舊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67013" y="4335672"/>
            <a:ext cx="2257590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C484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×(需管機房，5年換機)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072988" y="4335672"/>
            <a:ext cx="2257590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7474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×(需管機房，5年換機)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73451" y="5082413"/>
            <a:ext cx="1990344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323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遷移摩擦力(上雲阻力)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573691" y="5074793"/>
            <a:ext cx="2185796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14F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(PVE 直上，無 OS 阻力)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981550" y="5059554"/>
            <a:ext cx="2330031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8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√(PVE 直上，無 OS 阻力)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480848" y="5067173"/>
            <a:ext cx="2416351" cy="32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934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(需先解决28台Legacy OS)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594745" y="5737717"/>
            <a:ext cx="2800159" cy="27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76F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最佳表現|中等/需留意|顯著劣势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193497" y="6606375"/>
            <a:ext cx="998198" cy="15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A4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709" y="358131"/>
            <a:ext cx="7136889" cy="517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3040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建議行動路徑：基於業務準備度的轉型決策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588930" y="1584920"/>
            <a:ext cx="2314955" cy="3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F446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需要時間重構舊系統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3588930" y="1813515"/>
            <a:ext cx="1773908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414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(Legacy OS無法動態升級)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68276" y="1729697"/>
            <a:ext cx="3344528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252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採用方案二（混合雲 PBS+S3)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73068" y="2209745"/>
            <a:ext cx="4032825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383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立即以微小成本(NT$40萬)取得雲端災備保護，確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65448" y="2484058"/>
            <a:ext cx="3993448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3F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保舊系統在地端穩定運行，買下未來重構的時間。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65831" y="3055544"/>
            <a:ext cx="2425826" cy="455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8F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企業目前的應用程式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50591" y="3421294"/>
            <a:ext cx="2368676" cy="455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8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現代化準備度為何？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68276" y="4160416"/>
            <a:ext cx="1210056" cy="359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D709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採用方案三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993180" y="4160416"/>
            <a:ext cx="1732089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070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（纯雲端 AWS）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880688" y="4632844"/>
            <a:ext cx="5081029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4343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獲取最佳長期財務回報(省16%)，微底消除第6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3581310" y="4762381"/>
            <a:ext cx="2305430" cy="37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375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準備好升級或容器化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80688" y="4899538"/>
            <a:ext cx="3355197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年的二次硬體採購成本，實現 IT 敏捷化。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81310" y="5036694"/>
            <a:ext cx="1206817" cy="30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39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舊版應用程式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9569" y="6286343"/>
            <a:ext cx="9615337" cy="420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CDC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絕對避免：排除 AWSOutposts 架構。其預估 NT$5，080萬的成本極度缺乏經濟效益，不適用於此規模的基礎架構轉型。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010621" y="6514937"/>
            <a:ext cx="1181074" cy="28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4A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LM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2026-04-29T15:15:53Z</dcterms:created>
  <dcterms:modified xsi:type="dcterms:W3CDTF">2026-04-29T15:15:53Z</dcterms:modified>
</cp:coreProperties>
</file>